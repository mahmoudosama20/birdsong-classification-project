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x="18288000" cy="10287000"/>
  <p:notesSz cx="6858000" cy="9144000"/>
  <p:embeddedFontLst>
    <p:embeddedFont>
      <p:font typeface="Montserrat Semi-Bold" charset="1" panose="00000700000000000000"/>
      <p:regular r:id="rId35"/>
    </p:embeddedFont>
    <p:embeddedFont>
      <p:font typeface="Montserrat Bold" charset="1" panose="00000800000000000000"/>
      <p:regular r:id="rId36"/>
    </p:embeddedFont>
    <p:embeddedFont>
      <p:font typeface="Aileron Bold" charset="1" panose="00000800000000000000"/>
      <p:regular r:id="rId37"/>
    </p:embeddedFont>
    <p:embeddedFont>
      <p:font typeface="Aileron" charset="1" panose="00000500000000000000"/>
      <p:regular r:id="rId38"/>
    </p:embeddedFont>
    <p:embeddedFont>
      <p:font typeface="Raleway Italics" charset="1" panose="00000000000000000000"/>
      <p:regular r:id="rId39"/>
    </p:embeddedFont>
    <p:embeddedFont>
      <p:font typeface="Raleway Bold Italics" charset="1" panose="00000000000000000000"/>
      <p:regular r:id="rId40"/>
    </p:embeddedFont>
    <p:embeddedFont>
      <p:font typeface="Canva Sans Bold" charset="1" panose="020B0803030501040103"/>
      <p:regular r:id="rId41"/>
    </p:embeddedFont>
    <p:embeddedFont>
      <p:font typeface="Canva Sans" charset="1" panose="020B0503030501040103"/>
      <p:regular r:id="rId42"/>
    </p:embeddedFont>
    <p:embeddedFont>
      <p:font typeface="DM Sans Bold" charset="1" panose="00000000000000000000"/>
      <p:regular r:id="rId43"/>
    </p:embeddedFont>
    <p:embeddedFont>
      <p:font typeface="DM Sans" charset="1" panose="00000000000000000000"/>
      <p:regular r:id="rId44"/>
    </p:embeddedFont>
    <p:embeddedFont>
      <p:font typeface="Montserrat Heavy" charset="1" panose="00000A00000000000000"/>
      <p:regular r:id="rId4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6.png" Type="http://schemas.openxmlformats.org/officeDocument/2006/relationships/image"/><Relationship Id="rId4" Target="../embeddings/oleObject1.bin" Type="http://schemas.openxmlformats.org/officeDocument/2006/relationships/oleObjec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756814" y="-403607"/>
            <a:ext cx="6531186" cy="11641778"/>
            <a:chOff x="0" y="0"/>
            <a:chExt cx="1720148" cy="30661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20148" cy="3066147"/>
            </a:xfrm>
            <a:custGeom>
              <a:avLst/>
              <a:gdLst/>
              <a:ahLst/>
              <a:cxnLst/>
              <a:rect r="r" b="b" t="t" l="l"/>
              <a:pathLst>
                <a:path h="3066147" w="1720148">
                  <a:moveTo>
                    <a:pt x="0" y="0"/>
                  </a:moveTo>
                  <a:lnTo>
                    <a:pt x="1720148" y="0"/>
                  </a:lnTo>
                  <a:lnTo>
                    <a:pt x="1720148" y="3066147"/>
                  </a:lnTo>
                  <a:lnTo>
                    <a:pt x="0" y="3066147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20148" cy="3104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674092">
            <a:off x="-3513169" y="8339629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828919">
            <a:off x="1076036" y="-4819412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19149891" y="6989710"/>
                </a:moveTo>
                <a:lnTo>
                  <a:pt x="0" y="6989710"/>
                </a:lnTo>
                <a:lnTo>
                  <a:pt x="0" y="0"/>
                </a:lnTo>
                <a:lnTo>
                  <a:pt x="19149891" y="0"/>
                </a:lnTo>
                <a:lnTo>
                  <a:pt x="19149891" y="6989710"/>
                </a:lnTo>
                <a:close/>
              </a:path>
            </a:pathLst>
          </a:custGeom>
          <a:blipFill>
            <a:blip r:embed="rId2">
              <a:alphaModFix amt="43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433823" y="2691357"/>
            <a:ext cx="6825477" cy="5451849"/>
          </a:xfrm>
          <a:custGeom>
            <a:avLst/>
            <a:gdLst/>
            <a:ahLst/>
            <a:cxnLst/>
            <a:rect r="r" b="b" t="t" l="l"/>
            <a:pathLst>
              <a:path h="5451849" w="6825477">
                <a:moveTo>
                  <a:pt x="0" y="0"/>
                </a:moveTo>
                <a:lnTo>
                  <a:pt x="6825477" y="0"/>
                </a:lnTo>
                <a:lnTo>
                  <a:pt x="6825477" y="5451849"/>
                </a:lnTo>
                <a:lnTo>
                  <a:pt x="0" y="54518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18488" y="2382436"/>
            <a:ext cx="11497793" cy="2761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9"/>
              </a:lnSpc>
            </a:pPr>
            <a:r>
              <a:rPr lang="en-US" sz="11062" b="tru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Bird Audio Classification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7812" y="5305425"/>
            <a:ext cx="9506012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0"/>
              </a:lnSpc>
            </a:pPr>
            <a:r>
              <a:rPr lang="en-US" sz="7000" b="true">
                <a:solidFill>
                  <a:srgbClr val="36E9F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Deep Learning Project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241503" y="1672248"/>
            <a:ext cx="3083000" cy="804126"/>
            <a:chOff x="0" y="0"/>
            <a:chExt cx="827782" cy="2159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27782" cy="215907"/>
            </a:xfrm>
            <a:custGeom>
              <a:avLst/>
              <a:gdLst/>
              <a:ahLst/>
              <a:cxnLst/>
              <a:rect r="r" b="b" t="t" l="l"/>
              <a:pathLst>
                <a:path h="215907" w="827782">
                  <a:moveTo>
                    <a:pt x="37667" y="0"/>
                  </a:moveTo>
                  <a:lnTo>
                    <a:pt x="790115" y="0"/>
                  </a:lnTo>
                  <a:cubicBezTo>
                    <a:pt x="800105" y="0"/>
                    <a:pt x="809685" y="3969"/>
                    <a:pt x="816749" y="11033"/>
                  </a:cubicBezTo>
                  <a:cubicBezTo>
                    <a:pt x="823813" y="18097"/>
                    <a:pt x="827782" y="27677"/>
                    <a:pt x="827782" y="37667"/>
                  </a:cubicBezTo>
                  <a:lnTo>
                    <a:pt x="827782" y="178240"/>
                  </a:lnTo>
                  <a:cubicBezTo>
                    <a:pt x="827782" y="199043"/>
                    <a:pt x="810918" y="215907"/>
                    <a:pt x="790115" y="215907"/>
                  </a:cubicBezTo>
                  <a:lnTo>
                    <a:pt x="37667" y="215907"/>
                  </a:lnTo>
                  <a:cubicBezTo>
                    <a:pt x="27677" y="215907"/>
                    <a:pt x="18097" y="211938"/>
                    <a:pt x="11033" y="204874"/>
                  </a:cubicBezTo>
                  <a:cubicBezTo>
                    <a:pt x="3969" y="197810"/>
                    <a:pt x="0" y="188230"/>
                    <a:pt x="0" y="178240"/>
                  </a:cubicBezTo>
                  <a:lnTo>
                    <a:pt x="0" y="37667"/>
                  </a:lnTo>
                  <a:cubicBezTo>
                    <a:pt x="0" y="27677"/>
                    <a:pt x="3969" y="18097"/>
                    <a:pt x="11033" y="11033"/>
                  </a:cubicBezTo>
                  <a:cubicBezTo>
                    <a:pt x="18097" y="3969"/>
                    <a:pt x="27677" y="0"/>
                    <a:pt x="37667" y="0"/>
                  </a:cubicBezTo>
                  <a:close/>
                </a:path>
              </a:pathLst>
            </a:custGeom>
            <a:solidFill>
              <a:srgbClr val="86EA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827782" cy="244482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120"/>
                </a:lnSpc>
              </a:pPr>
              <a:r>
                <a:rPr lang="en-US" sz="2400" b="true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Raw Audio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055439" y="2546488"/>
            <a:ext cx="3327972" cy="827396"/>
            <a:chOff x="0" y="0"/>
            <a:chExt cx="893557" cy="2221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93557" cy="222155"/>
            </a:xfrm>
            <a:custGeom>
              <a:avLst/>
              <a:gdLst/>
              <a:ahLst/>
              <a:cxnLst/>
              <a:rect r="r" b="b" t="t" l="l"/>
              <a:pathLst>
                <a:path h="222155" w="893557">
                  <a:moveTo>
                    <a:pt x="34895" y="0"/>
                  </a:moveTo>
                  <a:lnTo>
                    <a:pt x="858662" y="0"/>
                  </a:lnTo>
                  <a:cubicBezTo>
                    <a:pt x="877934" y="0"/>
                    <a:pt x="893557" y="15623"/>
                    <a:pt x="893557" y="34895"/>
                  </a:cubicBezTo>
                  <a:lnTo>
                    <a:pt x="893557" y="187260"/>
                  </a:lnTo>
                  <a:cubicBezTo>
                    <a:pt x="893557" y="206532"/>
                    <a:pt x="877934" y="222155"/>
                    <a:pt x="858662" y="222155"/>
                  </a:cubicBezTo>
                  <a:lnTo>
                    <a:pt x="34895" y="222155"/>
                  </a:lnTo>
                  <a:cubicBezTo>
                    <a:pt x="15623" y="222155"/>
                    <a:pt x="0" y="206532"/>
                    <a:pt x="0" y="187260"/>
                  </a:cubicBezTo>
                  <a:lnTo>
                    <a:pt x="0" y="34895"/>
                  </a:lnTo>
                  <a:cubicBezTo>
                    <a:pt x="0" y="15623"/>
                    <a:pt x="15623" y="0"/>
                    <a:pt x="34895" y="0"/>
                  </a:cubicBezTo>
                  <a:close/>
                </a:path>
              </a:pathLst>
            </a:custGeom>
            <a:solidFill>
              <a:srgbClr val="3EDAD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893557" cy="250730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120"/>
                </a:lnSpc>
              </a:pPr>
              <a:r>
                <a:rPr lang="en-US" sz="2400" b="true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Cleaning 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466242" y="3387848"/>
            <a:ext cx="2633521" cy="850667"/>
            <a:chOff x="0" y="0"/>
            <a:chExt cx="707098" cy="2284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7098" cy="228403"/>
            </a:xfrm>
            <a:custGeom>
              <a:avLst/>
              <a:gdLst/>
              <a:ahLst/>
              <a:cxnLst/>
              <a:rect r="r" b="b" t="t" l="l"/>
              <a:pathLst>
                <a:path h="228403" w="707098">
                  <a:moveTo>
                    <a:pt x="44096" y="0"/>
                  </a:moveTo>
                  <a:lnTo>
                    <a:pt x="663001" y="0"/>
                  </a:lnTo>
                  <a:cubicBezTo>
                    <a:pt x="687355" y="0"/>
                    <a:pt x="707098" y="19743"/>
                    <a:pt x="707098" y="44096"/>
                  </a:cubicBezTo>
                  <a:lnTo>
                    <a:pt x="707098" y="184307"/>
                  </a:lnTo>
                  <a:cubicBezTo>
                    <a:pt x="707098" y="196002"/>
                    <a:pt x="702452" y="207218"/>
                    <a:pt x="694182" y="215488"/>
                  </a:cubicBezTo>
                  <a:cubicBezTo>
                    <a:pt x="685912" y="223757"/>
                    <a:pt x="674696" y="228403"/>
                    <a:pt x="663001" y="228403"/>
                  </a:cubicBezTo>
                  <a:lnTo>
                    <a:pt x="44096" y="228403"/>
                  </a:lnTo>
                  <a:cubicBezTo>
                    <a:pt x="19743" y="228403"/>
                    <a:pt x="0" y="208660"/>
                    <a:pt x="0" y="184307"/>
                  </a:cubicBezTo>
                  <a:lnTo>
                    <a:pt x="0" y="44096"/>
                  </a:lnTo>
                  <a:cubicBezTo>
                    <a:pt x="0" y="19743"/>
                    <a:pt x="19743" y="0"/>
                    <a:pt x="44096" y="0"/>
                  </a:cubicBezTo>
                  <a:close/>
                </a:path>
              </a:pathLst>
            </a:custGeom>
            <a:solidFill>
              <a:srgbClr val="37C9E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707098" cy="256978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120"/>
                </a:lnSpc>
              </a:pPr>
              <a:r>
                <a:rPr lang="en-US" sz="2400" b="true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Splitting 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897197" y="4529708"/>
            <a:ext cx="3644456" cy="848200"/>
            <a:chOff x="0" y="0"/>
            <a:chExt cx="978533" cy="22774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78533" cy="227741"/>
            </a:xfrm>
            <a:custGeom>
              <a:avLst/>
              <a:gdLst/>
              <a:ahLst/>
              <a:cxnLst/>
              <a:rect r="r" b="b" t="t" l="l"/>
              <a:pathLst>
                <a:path h="227741" w="978533">
                  <a:moveTo>
                    <a:pt x="31865" y="0"/>
                  </a:moveTo>
                  <a:lnTo>
                    <a:pt x="946668" y="0"/>
                  </a:lnTo>
                  <a:cubicBezTo>
                    <a:pt x="955119" y="0"/>
                    <a:pt x="963224" y="3357"/>
                    <a:pt x="969200" y="9333"/>
                  </a:cubicBezTo>
                  <a:cubicBezTo>
                    <a:pt x="975175" y="15309"/>
                    <a:pt x="978533" y="23414"/>
                    <a:pt x="978533" y="31865"/>
                  </a:cubicBezTo>
                  <a:lnTo>
                    <a:pt x="978533" y="195876"/>
                  </a:lnTo>
                  <a:cubicBezTo>
                    <a:pt x="978533" y="213475"/>
                    <a:pt x="964266" y="227741"/>
                    <a:pt x="946668" y="227741"/>
                  </a:cubicBezTo>
                  <a:lnTo>
                    <a:pt x="31865" y="227741"/>
                  </a:lnTo>
                  <a:cubicBezTo>
                    <a:pt x="14266" y="227741"/>
                    <a:pt x="0" y="213475"/>
                    <a:pt x="0" y="195876"/>
                  </a:cubicBezTo>
                  <a:lnTo>
                    <a:pt x="0" y="31865"/>
                  </a:lnTo>
                  <a:cubicBezTo>
                    <a:pt x="0" y="14266"/>
                    <a:pt x="14266" y="0"/>
                    <a:pt x="31865" y="0"/>
                  </a:cubicBezTo>
                  <a:close/>
                </a:path>
              </a:pathLst>
            </a:custGeom>
            <a:solidFill>
              <a:srgbClr val="18AFD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978533" cy="256316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120"/>
                </a:lnSpc>
              </a:pPr>
              <a:r>
                <a:rPr lang="en-US" sz="2400" b="true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Preprocessing 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819141" y="5810318"/>
            <a:ext cx="4273098" cy="850667"/>
            <a:chOff x="0" y="0"/>
            <a:chExt cx="1147322" cy="22840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47322" cy="228403"/>
            </a:xfrm>
            <a:custGeom>
              <a:avLst/>
              <a:gdLst/>
              <a:ahLst/>
              <a:cxnLst/>
              <a:rect r="r" b="b" t="t" l="l"/>
              <a:pathLst>
                <a:path h="228403" w="1147322">
                  <a:moveTo>
                    <a:pt x="27177" y="0"/>
                  </a:moveTo>
                  <a:lnTo>
                    <a:pt x="1120145" y="0"/>
                  </a:lnTo>
                  <a:cubicBezTo>
                    <a:pt x="1127353" y="0"/>
                    <a:pt x="1134266" y="2863"/>
                    <a:pt x="1139362" y="7960"/>
                  </a:cubicBezTo>
                  <a:cubicBezTo>
                    <a:pt x="1144459" y="13057"/>
                    <a:pt x="1147322" y="19969"/>
                    <a:pt x="1147322" y="27177"/>
                  </a:cubicBezTo>
                  <a:lnTo>
                    <a:pt x="1147322" y="201226"/>
                  </a:lnTo>
                  <a:cubicBezTo>
                    <a:pt x="1147322" y="208434"/>
                    <a:pt x="1144459" y="215347"/>
                    <a:pt x="1139362" y="220443"/>
                  </a:cubicBezTo>
                  <a:cubicBezTo>
                    <a:pt x="1134266" y="225540"/>
                    <a:pt x="1127353" y="228403"/>
                    <a:pt x="1120145" y="228403"/>
                  </a:cubicBezTo>
                  <a:lnTo>
                    <a:pt x="27177" y="228403"/>
                  </a:lnTo>
                  <a:cubicBezTo>
                    <a:pt x="19969" y="228403"/>
                    <a:pt x="13057" y="225540"/>
                    <a:pt x="7960" y="220443"/>
                  </a:cubicBezTo>
                  <a:cubicBezTo>
                    <a:pt x="2863" y="215347"/>
                    <a:pt x="0" y="208434"/>
                    <a:pt x="0" y="201226"/>
                  </a:cubicBezTo>
                  <a:lnTo>
                    <a:pt x="0" y="27177"/>
                  </a:lnTo>
                  <a:cubicBezTo>
                    <a:pt x="0" y="19969"/>
                    <a:pt x="2863" y="13057"/>
                    <a:pt x="7960" y="7960"/>
                  </a:cubicBezTo>
                  <a:cubicBezTo>
                    <a:pt x="13057" y="2863"/>
                    <a:pt x="19969" y="0"/>
                    <a:pt x="27177" y="0"/>
                  </a:cubicBezTo>
                  <a:close/>
                </a:path>
              </a:pathLst>
            </a:custGeom>
            <a:solidFill>
              <a:srgbClr val="1C88C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147322" cy="256978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120"/>
                </a:lnSpc>
              </a:pPr>
              <a:r>
                <a:rPr lang="en-US" sz="2400" b="true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Mel-Spectrograms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962783" y="6752943"/>
            <a:ext cx="3513284" cy="802005"/>
            <a:chOff x="0" y="0"/>
            <a:chExt cx="943313" cy="21533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43313" cy="215337"/>
            </a:xfrm>
            <a:custGeom>
              <a:avLst/>
              <a:gdLst/>
              <a:ahLst/>
              <a:cxnLst/>
              <a:rect r="r" b="b" t="t" l="l"/>
              <a:pathLst>
                <a:path h="215337" w="943313">
                  <a:moveTo>
                    <a:pt x="33054" y="0"/>
                  </a:moveTo>
                  <a:lnTo>
                    <a:pt x="910259" y="0"/>
                  </a:lnTo>
                  <a:cubicBezTo>
                    <a:pt x="928514" y="0"/>
                    <a:pt x="943313" y="14799"/>
                    <a:pt x="943313" y="33054"/>
                  </a:cubicBezTo>
                  <a:lnTo>
                    <a:pt x="943313" y="182283"/>
                  </a:lnTo>
                  <a:cubicBezTo>
                    <a:pt x="943313" y="200539"/>
                    <a:pt x="928514" y="215337"/>
                    <a:pt x="910259" y="215337"/>
                  </a:cubicBezTo>
                  <a:lnTo>
                    <a:pt x="33054" y="215337"/>
                  </a:lnTo>
                  <a:cubicBezTo>
                    <a:pt x="14799" y="215337"/>
                    <a:pt x="0" y="200539"/>
                    <a:pt x="0" y="182283"/>
                  </a:cubicBezTo>
                  <a:lnTo>
                    <a:pt x="0" y="33054"/>
                  </a:lnTo>
                  <a:cubicBezTo>
                    <a:pt x="0" y="14799"/>
                    <a:pt x="14799" y="0"/>
                    <a:pt x="33054" y="0"/>
                  </a:cubicBezTo>
                  <a:close/>
                </a:path>
              </a:pathLst>
            </a:custGeom>
            <a:solidFill>
              <a:srgbClr val="13538A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943313" cy="243912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120"/>
                </a:lnSpc>
              </a:pPr>
              <a:r>
                <a:rPr lang="en-US" sz="2400" b="true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Augmentation 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 flipV="true">
            <a:off x="7324502" y="2074311"/>
            <a:ext cx="1819498" cy="0"/>
          </a:xfrm>
          <a:prstGeom prst="line">
            <a:avLst/>
          </a:prstGeom>
          <a:ln cap="flat" w="57150">
            <a:gradFill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flipH="true" flipV="true">
            <a:off x="9234179" y="2960186"/>
            <a:ext cx="1821260" cy="0"/>
          </a:xfrm>
          <a:prstGeom prst="line">
            <a:avLst/>
          </a:prstGeom>
          <a:ln cap="flat" w="57150">
            <a:gradFill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7099763" y="3813181"/>
            <a:ext cx="2134416" cy="0"/>
          </a:xfrm>
          <a:prstGeom prst="line">
            <a:avLst/>
          </a:prstGeom>
          <a:ln cap="flat" w="57150">
            <a:gradFill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 flipH="true" flipV="true">
            <a:off x="9234179" y="4953808"/>
            <a:ext cx="1663018" cy="0"/>
          </a:xfrm>
          <a:prstGeom prst="line">
            <a:avLst/>
          </a:prstGeom>
          <a:ln cap="flat" w="57150">
            <a:gradFill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8092239" y="6235651"/>
            <a:ext cx="1141940" cy="0"/>
          </a:xfrm>
          <a:prstGeom prst="line">
            <a:avLst/>
          </a:prstGeom>
          <a:ln cap="flat" w="57150">
            <a:gradFill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25" id="25"/>
          <p:cNvGrpSpPr/>
          <p:nvPr/>
        </p:nvGrpSpPr>
        <p:grpSpPr>
          <a:xfrm rot="0">
            <a:off x="3798300" y="7959679"/>
            <a:ext cx="4314780" cy="802005"/>
            <a:chOff x="0" y="0"/>
            <a:chExt cx="1158514" cy="21533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58514" cy="215337"/>
            </a:xfrm>
            <a:custGeom>
              <a:avLst/>
              <a:gdLst/>
              <a:ahLst/>
              <a:cxnLst/>
              <a:rect r="r" b="b" t="t" l="l"/>
              <a:pathLst>
                <a:path h="215337" w="1158514">
                  <a:moveTo>
                    <a:pt x="26914" y="0"/>
                  </a:moveTo>
                  <a:lnTo>
                    <a:pt x="1131600" y="0"/>
                  </a:lnTo>
                  <a:cubicBezTo>
                    <a:pt x="1146464" y="0"/>
                    <a:pt x="1158514" y="12050"/>
                    <a:pt x="1158514" y="26914"/>
                  </a:cubicBezTo>
                  <a:lnTo>
                    <a:pt x="1158514" y="188423"/>
                  </a:lnTo>
                  <a:cubicBezTo>
                    <a:pt x="1158514" y="203288"/>
                    <a:pt x="1146464" y="215337"/>
                    <a:pt x="1131600" y="215337"/>
                  </a:cubicBezTo>
                  <a:lnTo>
                    <a:pt x="26914" y="215337"/>
                  </a:lnTo>
                  <a:cubicBezTo>
                    <a:pt x="12050" y="215337"/>
                    <a:pt x="0" y="203288"/>
                    <a:pt x="0" y="188423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solidFill>
              <a:srgbClr val="1C88C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1158514" cy="243912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120"/>
                </a:lnSpc>
              </a:pPr>
              <a:r>
                <a:rPr lang="en-US" sz="24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Train the Models</a:t>
              </a:r>
            </a:p>
          </p:txBody>
        </p:sp>
      </p:grpSp>
      <p:sp>
        <p:nvSpPr>
          <p:cNvPr name="AutoShape 28" id="28"/>
          <p:cNvSpPr/>
          <p:nvPr/>
        </p:nvSpPr>
        <p:spPr>
          <a:xfrm flipH="true">
            <a:off x="9234179" y="7153945"/>
            <a:ext cx="1728604" cy="0"/>
          </a:xfrm>
          <a:prstGeom prst="line">
            <a:avLst/>
          </a:prstGeom>
          <a:ln cap="flat" w="57150">
            <a:gradFill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29" id="29"/>
          <p:cNvGrpSpPr/>
          <p:nvPr/>
        </p:nvGrpSpPr>
        <p:grpSpPr>
          <a:xfrm rot="0">
            <a:off x="10645304" y="9098782"/>
            <a:ext cx="4148242" cy="802005"/>
            <a:chOff x="0" y="0"/>
            <a:chExt cx="1113798" cy="21533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13798" cy="215337"/>
            </a:xfrm>
            <a:custGeom>
              <a:avLst/>
              <a:gdLst/>
              <a:ahLst/>
              <a:cxnLst/>
              <a:rect r="r" b="b" t="t" l="l"/>
              <a:pathLst>
                <a:path h="215337" w="1113798">
                  <a:moveTo>
                    <a:pt x="27995" y="0"/>
                  </a:moveTo>
                  <a:lnTo>
                    <a:pt x="1085804" y="0"/>
                  </a:lnTo>
                  <a:cubicBezTo>
                    <a:pt x="1093228" y="0"/>
                    <a:pt x="1100349" y="2949"/>
                    <a:pt x="1105599" y="8199"/>
                  </a:cubicBezTo>
                  <a:cubicBezTo>
                    <a:pt x="1110849" y="13449"/>
                    <a:pt x="1113798" y="20570"/>
                    <a:pt x="1113798" y="27995"/>
                  </a:cubicBezTo>
                  <a:lnTo>
                    <a:pt x="1113798" y="187343"/>
                  </a:lnTo>
                  <a:cubicBezTo>
                    <a:pt x="1113798" y="194767"/>
                    <a:pt x="1110849" y="201888"/>
                    <a:pt x="1105599" y="207138"/>
                  </a:cubicBezTo>
                  <a:cubicBezTo>
                    <a:pt x="1100349" y="212388"/>
                    <a:pt x="1093228" y="215337"/>
                    <a:pt x="1085804" y="215337"/>
                  </a:cubicBezTo>
                  <a:lnTo>
                    <a:pt x="27995" y="215337"/>
                  </a:lnTo>
                  <a:cubicBezTo>
                    <a:pt x="20570" y="215337"/>
                    <a:pt x="13449" y="212388"/>
                    <a:pt x="8199" y="207138"/>
                  </a:cubicBezTo>
                  <a:cubicBezTo>
                    <a:pt x="2949" y="201888"/>
                    <a:pt x="0" y="194767"/>
                    <a:pt x="0" y="187343"/>
                  </a:cubicBezTo>
                  <a:lnTo>
                    <a:pt x="0" y="27995"/>
                  </a:lnTo>
                  <a:cubicBezTo>
                    <a:pt x="0" y="20570"/>
                    <a:pt x="2949" y="13449"/>
                    <a:pt x="8199" y="8199"/>
                  </a:cubicBezTo>
                  <a:cubicBezTo>
                    <a:pt x="13449" y="2949"/>
                    <a:pt x="20570" y="0"/>
                    <a:pt x="27995" y="0"/>
                  </a:cubicBezTo>
                  <a:close/>
                </a:path>
              </a:pathLst>
            </a:custGeom>
            <a:solidFill>
              <a:srgbClr val="18AFD6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1113798" cy="243912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120"/>
                </a:lnSpc>
              </a:pPr>
              <a:r>
                <a:rPr lang="en-US" sz="2400" b="true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Models Evaluation 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>
            <a:off x="9234179" y="1672248"/>
            <a:ext cx="0" cy="8407753"/>
          </a:xfrm>
          <a:prstGeom prst="line">
            <a:avLst/>
          </a:prstGeom>
          <a:ln cap="flat" w="57150">
            <a:gradFill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 flipH="true" flipV="true">
            <a:off x="8113080" y="8360681"/>
            <a:ext cx="1121099" cy="22919"/>
          </a:xfrm>
          <a:prstGeom prst="line">
            <a:avLst/>
          </a:prstGeom>
          <a:ln cap="flat" w="57150">
            <a:gradFill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 flipH="true" flipV="true">
            <a:off x="9234179" y="9499785"/>
            <a:ext cx="1411125" cy="0"/>
          </a:xfrm>
          <a:prstGeom prst="line">
            <a:avLst/>
          </a:prstGeom>
          <a:ln cap="flat" w="57150">
            <a:gradFill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35" id="35"/>
          <p:cNvSpPr txBox="true"/>
          <p:nvPr/>
        </p:nvSpPr>
        <p:spPr>
          <a:xfrm rot="0">
            <a:off x="-620076" y="429256"/>
            <a:ext cx="10172635" cy="1025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00"/>
              </a:lnSpc>
            </a:pPr>
            <a:r>
              <a:rPr lang="en-US" sz="8000" b="tru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Project Pipeline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61B7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14761">
            <a:off x="5680419" y="6404287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1"/>
                </a:lnTo>
                <a:lnTo>
                  <a:pt x="0" y="6989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1572293">
            <a:off x="3960635" y="-5525403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9129" y="4814648"/>
            <a:ext cx="15729741" cy="4443652"/>
          </a:xfrm>
          <a:custGeom>
            <a:avLst/>
            <a:gdLst/>
            <a:ahLst/>
            <a:cxnLst/>
            <a:rect r="r" b="b" t="t" l="l"/>
            <a:pathLst>
              <a:path h="4443652" w="15729741">
                <a:moveTo>
                  <a:pt x="0" y="0"/>
                </a:moveTo>
                <a:lnTo>
                  <a:pt x="15729742" y="0"/>
                </a:lnTo>
                <a:lnTo>
                  <a:pt x="15729742" y="4443652"/>
                </a:lnTo>
                <a:lnTo>
                  <a:pt x="0" y="44436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1958" y="857606"/>
            <a:ext cx="10713709" cy="1025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00"/>
              </a:lnSpc>
            </a:pPr>
            <a:r>
              <a:rPr lang="en-US" sz="8000" b="true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Dataset Structure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48342" y="2178267"/>
            <a:ext cx="14951832" cy="2293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515"/>
              </a:lnSpc>
              <a:buFont typeface="Arial"/>
              <a:buChar char="•"/>
            </a:pPr>
            <a:r>
              <a:rPr lang="en-US" sz="35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Metadata file: train_metadata.csv</a:t>
            </a:r>
          </a:p>
          <a:p>
            <a:pPr algn="l" marL="755651" indent="-377825" lvl="1">
              <a:lnSpc>
                <a:spcPts val="4515"/>
              </a:lnSpc>
              <a:buFont typeface="Arial"/>
              <a:buChar char="•"/>
            </a:pPr>
            <a:r>
              <a:rPr lang="en-US" sz="35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Important fields: primary_label, filename, author</a:t>
            </a:r>
          </a:p>
          <a:p>
            <a:pPr algn="l" marL="755651" indent="-377825" lvl="1">
              <a:lnSpc>
                <a:spcPts val="4515"/>
              </a:lnSpc>
              <a:buFont typeface="Arial"/>
              <a:buChar char="•"/>
            </a:pPr>
            <a:r>
              <a:rPr lang="en-US" sz="35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Shape: (24459, 12)</a:t>
            </a:r>
          </a:p>
          <a:p>
            <a:pPr algn="l">
              <a:lnSpc>
                <a:spcPts val="4515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61B7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14761">
            <a:off x="5680419" y="6404287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1"/>
                </a:lnTo>
                <a:lnTo>
                  <a:pt x="0" y="6989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1572293">
            <a:off x="3960635" y="-5525403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140908" y="3920720"/>
            <a:ext cx="13114457" cy="5704789"/>
          </a:xfrm>
          <a:custGeom>
            <a:avLst/>
            <a:gdLst/>
            <a:ahLst/>
            <a:cxnLst/>
            <a:rect r="r" b="b" t="t" l="l"/>
            <a:pathLst>
              <a:path h="5704789" w="13114457">
                <a:moveTo>
                  <a:pt x="0" y="0"/>
                </a:moveTo>
                <a:lnTo>
                  <a:pt x="13114457" y="0"/>
                </a:lnTo>
                <a:lnTo>
                  <a:pt x="13114457" y="5704789"/>
                </a:lnTo>
                <a:lnTo>
                  <a:pt x="0" y="57047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-2528144" y="450469"/>
            <a:ext cx="16304801" cy="1025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00"/>
              </a:lnSpc>
            </a:pPr>
            <a:r>
              <a:rPr lang="en-US" sz="8000" b="true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Species Distribution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26731" y="1627100"/>
            <a:ext cx="14951832" cy="1722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515"/>
              </a:lnSpc>
              <a:buFont typeface="Arial"/>
              <a:buChar char="•"/>
            </a:pPr>
            <a:r>
              <a:rPr lang="en-US" sz="35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Species frequencies vary significantly</a:t>
            </a:r>
          </a:p>
          <a:p>
            <a:pPr algn="l" marL="755651" indent="-377825" lvl="1">
              <a:lnSpc>
                <a:spcPts val="4515"/>
              </a:lnSpc>
              <a:buFont typeface="Arial"/>
              <a:buChar char="•"/>
            </a:pPr>
            <a:r>
              <a:rPr lang="en-US" sz="35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Some species have thousands of recordings, others have very few</a:t>
            </a:r>
          </a:p>
          <a:p>
            <a:pPr algn="l" marL="755651" indent="-377825" lvl="1">
              <a:lnSpc>
                <a:spcPts val="4515"/>
              </a:lnSpc>
              <a:buFont typeface="Arial"/>
              <a:buChar char="•"/>
            </a:pPr>
            <a:r>
              <a:rPr lang="en-US" b="true" sz="3500" i="true">
                <a:solidFill>
                  <a:srgbClr val="FFFFFF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We select Top-10 to enhance the robustness of our training process.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14761">
            <a:off x="5680419" y="6404287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1"/>
                </a:lnTo>
                <a:lnTo>
                  <a:pt x="0" y="6989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1572293">
            <a:off x="3960635" y="-5525403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304809" y="3894285"/>
            <a:ext cx="9645640" cy="4473165"/>
          </a:xfrm>
          <a:custGeom>
            <a:avLst/>
            <a:gdLst/>
            <a:ahLst/>
            <a:cxnLst/>
            <a:rect r="r" b="b" t="t" l="l"/>
            <a:pathLst>
              <a:path h="4473165" w="9645640">
                <a:moveTo>
                  <a:pt x="0" y="0"/>
                </a:moveTo>
                <a:lnTo>
                  <a:pt x="9645640" y="0"/>
                </a:lnTo>
                <a:lnTo>
                  <a:pt x="9645640" y="4473166"/>
                </a:lnTo>
                <a:lnTo>
                  <a:pt x="0" y="44731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61172" y="944718"/>
            <a:ext cx="11533467" cy="2138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43"/>
              </a:lnSpc>
            </a:pPr>
            <a:r>
              <a:rPr lang="en-US" sz="8572" b="tru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Raw Audio Duration Distribution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61172" y="4119394"/>
            <a:ext cx="7787882" cy="457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515"/>
              </a:lnSpc>
              <a:buFont typeface="Arial"/>
              <a:buChar char="•"/>
            </a:pPr>
            <a:r>
              <a:rPr lang="en-US" sz="35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Audio clips vary greatly in length</a:t>
            </a:r>
          </a:p>
          <a:p>
            <a:pPr algn="l" marL="755651" indent="-377825" lvl="1">
              <a:lnSpc>
                <a:spcPts val="4515"/>
              </a:lnSpc>
              <a:buFont typeface="Arial"/>
              <a:buChar char="•"/>
            </a:pPr>
            <a:r>
              <a:rPr lang="en-US" sz="35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Many recordings are short, others exceed 60 seconds</a:t>
            </a:r>
          </a:p>
          <a:p>
            <a:pPr algn="l" marL="755651" indent="-377825" lvl="1">
              <a:lnSpc>
                <a:spcPts val="4515"/>
              </a:lnSpc>
              <a:buFont typeface="Arial"/>
              <a:buChar char="•"/>
            </a:pPr>
            <a:r>
              <a:rPr lang="en-US" sz="35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Neural networks require fixed-length inputs</a:t>
            </a:r>
          </a:p>
          <a:p>
            <a:pPr algn="l" marL="755651" indent="-377825" lvl="1">
              <a:lnSpc>
                <a:spcPts val="4515"/>
              </a:lnSpc>
              <a:buFont typeface="Arial"/>
              <a:buChar char="•"/>
            </a:pPr>
            <a:r>
              <a:rPr lang="en-US" b="true" sz="3500" i="true">
                <a:solidFill>
                  <a:srgbClr val="FFFFFF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Preprocessing step normalizes all clips to 5 seconds</a:t>
            </a:r>
          </a:p>
          <a:p>
            <a:pPr algn="l">
              <a:lnSpc>
                <a:spcPts val="4515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61B7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125294">
            <a:off x="-4706113" y="8754247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519534">
            <a:off x="-3557550" y="-5130180"/>
            <a:ext cx="21645066" cy="7900449"/>
          </a:xfrm>
          <a:custGeom>
            <a:avLst/>
            <a:gdLst/>
            <a:ahLst/>
            <a:cxnLst/>
            <a:rect r="r" b="b" t="t" l="l"/>
            <a:pathLst>
              <a:path h="7900449" w="21645066">
                <a:moveTo>
                  <a:pt x="0" y="7900449"/>
                </a:moveTo>
                <a:lnTo>
                  <a:pt x="21645066" y="7900449"/>
                </a:lnTo>
                <a:lnTo>
                  <a:pt x="21645066" y="0"/>
                </a:lnTo>
                <a:lnTo>
                  <a:pt x="0" y="0"/>
                </a:lnTo>
                <a:lnTo>
                  <a:pt x="0" y="7900449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034942" y="2682685"/>
            <a:ext cx="6563354" cy="5525272"/>
          </a:xfrm>
          <a:custGeom>
            <a:avLst/>
            <a:gdLst/>
            <a:ahLst/>
            <a:cxnLst/>
            <a:rect r="r" b="b" t="t" l="l"/>
            <a:pathLst>
              <a:path h="5525272" w="6563354">
                <a:moveTo>
                  <a:pt x="0" y="0"/>
                </a:moveTo>
                <a:lnTo>
                  <a:pt x="6563354" y="0"/>
                </a:lnTo>
                <a:lnTo>
                  <a:pt x="6563354" y="5525272"/>
                </a:lnTo>
                <a:lnTo>
                  <a:pt x="0" y="5525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-688539" y="1238250"/>
            <a:ext cx="14198662" cy="1078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48"/>
              </a:lnSpc>
            </a:pPr>
            <a:r>
              <a:rPr lang="en-US" sz="8472" b="true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Grouped Dataset Split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8665" y="3056837"/>
            <a:ext cx="9834715" cy="5151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515"/>
              </a:lnSpc>
              <a:buFont typeface="Arial"/>
              <a:buChar char="•"/>
            </a:pPr>
            <a:r>
              <a:rPr lang="en-US" sz="35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Splitting based on author to prevent data leakage</a:t>
            </a:r>
          </a:p>
          <a:p>
            <a:pPr algn="l" marL="755651" indent="-377825" lvl="1">
              <a:lnSpc>
                <a:spcPts val="4515"/>
              </a:lnSpc>
              <a:buFont typeface="Arial"/>
              <a:buChar char="•"/>
            </a:pPr>
            <a:r>
              <a:rPr lang="en-US" sz="35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Proportions:</a:t>
            </a:r>
          </a:p>
          <a:p>
            <a:pPr algn="l" marL="755651" indent="-377825" lvl="1">
              <a:lnSpc>
                <a:spcPts val="4515"/>
              </a:lnSpc>
              <a:buFont typeface="Arial"/>
              <a:buChar char="•"/>
            </a:pPr>
            <a:r>
              <a:rPr lang="en-US" sz="35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Train: 60%</a:t>
            </a:r>
          </a:p>
          <a:p>
            <a:pPr algn="l" marL="755651" indent="-377825" lvl="1">
              <a:lnSpc>
                <a:spcPts val="4515"/>
              </a:lnSpc>
              <a:buFont typeface="Arial"/>
              <a:buChar char="•"/>
            </a:pPr>
            <a:r>
              <a:rPr lang="en-US" sz="35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Validation: 20%</a:t>
            </a:r>
          </a:p>
          <a:p>
            <a:pPr algn="l" marL="755651" indent="-377825" lvl="1">
              <a:lnSpc>
                <a:spcPts val="4515"/>
              </a:lnSpc>
              <a:buFont typeface="Arial"/>
              <a:buChar char="•"/>
            </a:pPr>
            <a:r>
              <a:rPr lang="en-US" sz="35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Test: 20%</a:t>
            </a:r>
          </a:p>
          <a:p>
            <a:pPr algn="l" marL="755651" indent="-377825" lvl="1">
              <a:lnSpc>
                <a:spcPts val="4515"/>
              </a:lnSpc>
              <a:buFont typeface="Arial"/>
              <a:buChar char="•"/>
            </a:pPr>
            <a:r>
              <a:rPr lang="en-US" sz="35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Ensures that different sets contain audio from different recorders</a:t>
            </a:r>
          </a:p>
          <a:p>
            <a:pPr algn="l">
              <a:lnSpc>
                <a:spcPts val="4515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30946" y="8519516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2" y="0"/>
                </a:lnTo>
                <a:lnTo>
                  <a:pt x="19149892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312952" y="-960552"/>
            <a:ext cx="7315200" cy="2208508"/>
          </a:xfrm>
          <a:custGeom>
            <a:avLst/>
            <a:gdLst/>
            <a:ahLst/>
            <a:cxnLst/>
            <a:rect r="r" b="b" t="t" l="l"/>
            <a:pathLst>
              <a:path h="2208508" w="7315200">
                <a:moveTo>
                  <a:pt x="7315200" y="0"/>
                </a:moveTo>
                <a:lnTo>
                  <a:pt x="0" y="0"/>
                </a:lnTo>
                <a:lnTo>
                  <a:pt x="0" y="2208509"/>
                </a:lnTo>
                <a:lnTo>
                  <a:pt x="7315200" y="220850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3">
              <a:alphaModFix amt="31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47564" y="2864812"/>
            <a:ext cx="10316061" cy="3339825"/>
          </a:xfrm>
          <a:custGeom>
            <a:avLst/>
            <a:gdLst/>
            <a:ahLst/>
            <a:cxnLst/>
            <a:rect r="r" b="b" t="t" l="l"/>
            <a:pathLst>
              <a:path h="3339825" w="10316061">
                <a:moveTo>
                  <a:pt x="0" y="0"/>
                </a:moveTo>
                <a:lnTo>
                  <a:pt x="10316061" y="0"/>
                </a:lnTo>
                <a:lnTo>
                  <a:pt x="10316061" y="3339825"/>
                </a:lnTo>
                <a:lnTo>
                  <a:pt x="0" y="33398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56142" y="5933318"/>
            <a:ext cx="6258251" cy="4114800"/>
          </a:xfrm>
          <a:custGeom>
            <a:avLst/>
            <a:gdLst/>
            <a:ahLst/>
            <a:cxnLst/>
            <a:rect r="r" b="b" t="t" l="l"/>
            <a:pathLst>
              <a:path h="4114800" w="6258251">
                <a:moveTo>
                  <a:pt x="0" y="0"/>
                </a:moveTo>
                <a:lnTo>
                  <a:pt x="6258251" y="0"/>
                </a:lnTo>
                <a:lnTo>
                  <a:pt x="625825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56142" y="726057"/>
            <a:ext cx="15524623" cy="2138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43"/>
              </a:lnSpc>
            </a:pPr>
            <a:r>
              <a:rPr lang="en-US" sz="8572" b="tru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Visualizing Raw Waveform and Spectrogram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0112" y="3638021"/>
            <a:ext cx="5713355" cy="1150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15"/>
              </a:lnSpc>
            </a:pPr>
            <a:r>
              <a:rPr lang="en-US" sz="35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Waveform shows amplitude over time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42530" y="7368896"/>
            <a:ext cx="8316770" cy="1150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15"/>
              </a:lnSpc>
            </a:pPr>
            <a:r>
              <a:rPr lang="en-US" sz="35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Mel-Spectrogram shows frequency content</a:t>
            </a:r>
          </a:p>
        </p:txBody>
      </p:sp>
      <p:sp>
        <p:nvSpPr>
          <p:cNvPr name="AutoShape 9" id="9"/>
          <p:cNvSpPr/>
          <p:nvPr/>
        </p:nvSpPr>
        <p:spPr>
          <a:xfrm>
            <a:off x="5953466" y="4237144"/>
            <a:ext cx="1369304" cy="0"/>
          </a:xfrm>
          <a:prstGeom prst="line">
            <a:avLst/>
          </a:prstGeom>
          <a:ln cap="flat" w="57150">
            <a:gradFill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6714393" y="7968019"/>
            <a:ext cx="2228137" cy="22700"/>
          </a:xfrm>
          <a:prstGeom prst="line">
            <a:avLst/>
          </a:prstGeom>
          <a:ln cap="flat" w="57150">
            <a:gradFill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61B7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196595" y="4336080"/>
            <a:ext cx="10746863" cy="3573332"/>
          </a:xfrm>
          <a:custGeom>
            <a:avLst/>
            <a:gdLst/>
            <a:ahLst/>
            <a:cxnLst/>
            <a:rect r="r" b="b" t="t" l="l"/>
            <a:pathLst>
              <a:path h="3573332" w="10746863">
                <a:moveTo>
                  <a:pt x="0" y="0"/>
                </a:moveTo>
                <a:lnTo>
                  <a:pt x="10746863" y="0"/>
                </a:lnTo>
                <a:lnTo>
                  <a:pt x="10746863" y="3573332"/>
                </a:lnTo>
                <a:lnTo>
                  <a:pt x="0" y="35733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895979" y="830638"/>
            <a:ext cx="19035216" cy="253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43"/>
              </a:lnSpc>
            </a:pPr>
            <a:r>
              <a:rPr lang="en-US" sz="8572" b="true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Preparing Audio for Feature Extraction</a:t>
            </a:r>
          </a:p>
          <a:p>
            <a:pPr algn="ctr">
              <a:lnSpc>
                <a:spcPts val="3799"/>
              </a:lnSpc>
            </a:pPr>
            <a:r>
              <a:rPr lang="en-US" sz="3999" b="true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(Resampling, Padding, Cropping)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58266" y="4380623"/>
            <a:ext cx="8436920" cy="343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5"/>
              </a:lnSpc>
            </a:pPr>
            <a:r>
              <a:rPr lang="en-US" sz="35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Steps applied to every audio file:</a:t>
            </a:r>
          </a:p>
          <a:p>
            <a:pPr algn="l" marL="755651" indent="-377825" lvl="1">
              <a:lnSpc>
                <a:spcPts val="4515"/>
              </a:lnSpc>
              <a:buAutoNum type="arabicPeriod" startAt="1"/>
            </a:pPr>
            <a:r>
              <a:rPr lang="en-US" sz="35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Convert to mono</a:t>
            </a:r>
          </a:p>
          <a:p>
            <a:pPr algn="l" marL="755651" indent="-377825" lvl="1">
              <a:lnSpc>
                <a:spcPts val="4515"/>
              </a:lnSpc>
              <a:buAutoNum type="arabicPeriod" startAt="1"/>
            </a:pPr>
            <a:r>
              <a:rPr lang="en-US" sz="35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Resample to 32,000 Hz</a:t>
            </a:r>
          </a:p>
          <a:p>
            <a:pPr algn="l" marL="755651" indent="-377825" lvl="1">
              <a:lnSpc>
                <a:spcPts val="4515"/>
              </a:lnSpc>
              <a:buAutoNum type="arabicPeriod" startAt="1"/>
            </a:pPr>
            <a:r>
              <a:rPr lang="en-US" sz="35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Fix length to 5 seconds</a:t>
            </a:r>
          </a:p>
          <a:p>
            <a:pPr algn="l" marL="755651" indent="-377825" lvl="1">
              <a:lnSpc>
                <a:spcPts val="4515"/>
              </a:lnSpc>
              <a:buAutoNum type="arabicPeriod" startAt="1"/>
            </a:pPr>
            <a:r>
              <a:rPr lang="en-US" sz="35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Apply RMS normalization</a:t>
            </a:r>
          </a:p>
          <a:p>
            <a:pPr algn="ctr">
              <a:lnSpc>
                <a:spcPts val="4515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14761">
            <a:off x="5680419" y="6404287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1"/>
                </a:lnTo>
                <a:lnTo>
                  <a:pt x="0" y="6989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1572293">
            <a:off x="3960635" y="-5525403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2964991"/>
            <a:ext cx="8756645" cy="5823169"/>
          </a:xfrm>
          <a:custGeom>
            <a:avLst/>
            <a:gdLst/>
            <a:ahLst/>
            <a:cxnLst/>
            <a:rect r="r" b="b" t="t" l="l"/>
            <a:pathLst>
              <a:path h="5823169" w="8756645">
                <a:moveTo>
                  <a:pt x="0" y="0"/>
                </a:moveTo>
                <a:lnTo>
                  <a:pt x="8756645" y="0"/>
                </a:lnTo>
                <a:lnTo>
                  <a:pt x="8756645" y="5823169"/>
                </a:lnTo>
                <a:lnTo>
                  <a:pt x="0" y="58231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72083" y="748982"/>
            <a:ext cx="12863498" cy="2138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43"/>
              </a:lnSpc>
            </a:pPr>
            <a:r>
              <a:rPr lang="en-US" sz="8572" b="tru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Log-Mel Spectrogram Extraction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72083" y="3562953"/>
            <a:ext cx="8471917" cy="457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515"/>
              </a:lnSpc>
              <a:buFont typeface="Arial"/>
              <a:buChar char="•"/>
            </a:pPr>
            <a:r>
              <a:rPr lang="en-US" sz="35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Window size (FFT): 2048</a:t>
            </a:r>
          </a:p>
          <a:p>
            <a:pPr algn="l" marL="755651" indent="-377825" lvl="1">
              <a:lnSpc>
                <a:spcPts val="4515"/>
              </a:lnSpc>
              <a:buFont typeface="Arial"/>
              <a:buChar char="•"/>
            </a:pPr>
            <a:r>
              <a:rPr lang="en-US" sz="35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Hop length: 512</a:t>
            </a:r>
          </a:p>
          <a:p>
            <a:pPr algn="l" marL="755651" indent="-377825" lvl="1">
              <a:lnSpc>
                <a:spcPts val="4515"/>
              </a:lnSpc>
              <a:buFont typeface="Arial"/>
              <a:buChar char="•"/>
            </a:pPr>
            <a:r>
              <a:rPr lang="en-US" sz="35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Mel filters: 128</a:t>
            </a:r>
          </a:p>
          <a:p>
            <a:pPr algn="l" marL="755651" indent="-377825" lvl="1">
              <a:lnSpc>
                <a:spcPts val="4515"/>
              </a:lnSpc>
              <a:buFont typeface="Arial"/>
              <a:buChar char="•"/>
            </a:pPr>
            <a:r>
              <a:rPr lang="en-US" sz="35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Log-Mel spectrograms used as inputs to the model</a:t>
            </a:r>
          </a:p>
          <a:p>
            <a:pPr algn="l" marL="755651" indent="-377825" lvl="1">
              <a:lnSpc>
                <a:spcPts val="4515"/>
              </a:lnSpc>
              <a:buFont typeface="Arial"/>
              <a:buChar char="•"/>
            </a:pPr>
            <a:r>
              <a:rPr lang="en-US" sz="35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They compress audio while preserving important patterns</a:t>
            </a:r>
          </a:p>
          <a:p>
            <a:pPr algn="l">
              <a:lnSpc>
                <a:spcPts val="4515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61B7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582889">
            <a:off x="-4783694" y="7975014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1572293">
            <a:off x="3960635" y="-5525403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620683" y="6408531"/>
            <a:ext cx="11301259" cy="3630529"/>
          </a:xfrm>
          <a:custGeom>
            <a:avLst/>
            <a:gdLst/>
            <a:ahLst/>
            <a:cxnLst/>
            <a:rect r="r" b="b" t="t" l="l"/>
            <a:pathLst>
              <a:path h="3630529" w="11301259">
                <a:moveTo>
                  <a:pt x="0" y="0"/>
                </a:moveTo>
                <a:lnTo>
                  <a:pt x="11301259" y="0"/>
                </a:lnTo>
                <a:lnTo>
                  <a:pt x="11301259" y="3630530"/>
                </a:lnTo>
                <a:lnTo>
                  <a:pt x="0" y="36305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95915" y="956555"/>
            <a:ext cx="11808676" cy="2129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43"/>
              </a:lnSpc>
            </a:pPr>
            <a:r>
              <a:rPr lang="en-US" sz="8572" b="true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Data Augmentation for Training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401378"/>
            <a:ext cx="9705631" cy="343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5"/>
              </a:lnSpc>
            </a:pPr>
            <a:r>
              <a:rPr lang="en-US" sz="35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To expand the dataset and reduce overfitting:</a:t>
            </a:r>
          </a:p>
          <a:p>
            <a:pPr algn="l" marL="755651" indent="-377825" lvl="1">
              <a:lnSpc>
                <a:spcPts val="4515"/>
              </a:lnSpc>
              <a:buFont typeface="Arial"/>
              <a:buChar char="•"/>
            </a:pPr>
            <a:r>
              <a:rPr lang="en-US" sz="35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Pitch shifting: ±2 semitones</a:t>
            </a:r>
          </a:p>
          <a:p>
            <a:pPr algn="l" marL="755651" indent="-377825" lvl="1">
              <a:lnSpc>
                <a:spcPts val="4515"/>
              </a:lnSpc>
              <a:buFont typeface="Arial"/>
              <a:buChar char="•"/>
            </a:pPr>
            <a:r>
              <a:rPr lang="en-US" sz="35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Time stretching: 0.85x–1.15x</a:t>
            </a:r>
          </a:p>
          <a:p>
            <a:pPr algn="l" marL="755651" indent="-377825" lvl="1">
              <a:lnSpc>
                <a:spcPts val="4515"/>
              </a:lnSpc>
              <a:buFont typeface="Arial"/>
              <a:buChar char="•"/>
            </a:pPr>
            <a:r>
              <a:rPr lang="en-US" sz="35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Gaussian noise: std = 0.005</a:t>
            </a:r>
          </a:p>
          <a:p>
            <a:pPr algn="l" marL="755651" indent="-377825" lvl="1">
              <a:lnSpc>
                <a:spcPts val="4515"/>
              </a:lnSpc>
              <a:buFont typeface="Arial"/>
              <a:buChar char="•"/>
            </a:pPr>
            <a:r>
              <a:rPr lang="en-US" sz="35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Augmentation improves model robustness</a:t>
            </a:r>
          </a:p>
          <a:p>
            <a:pPr algn="l">
              <a:lnSpc>
                <a:spcPts val="4515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1572293">
            <a:off x="3960635" y="-5525403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423222" y="2982457"/>
            <a:ext cx="8836078" cy="5809722"/>
          </a:xfrm>
          <a:custGeom>
            <a:avLst/>
            <a:gdLst/>
            <a:ahLst/>
            <a:cxnLst/>
            <a:rect r="r" b="b" t="t" l="l"/>
            <a:pathLst>
              <a:path h="5809722" w="8836078">
                <a:moveTo>
                  <a:pt x="0" y="0"/>
                </a:moveTo>
                <a:lnTo>
                  <a:pt x="8836078" y="0"/>
                </a:lnTo>
                <a:lnTo>
                  <a:pt x="8836078" y="5809722"/>
                </a:lnTo>
                <a:lnTo>
                  <a:pt x="0" y="58097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595054" y="901416"/>
            <a:ext cx="16582178" cy="920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37"/>
              </a:lnSpc>
            </a:pPr>
            <a:r>
              <a:rPr lang="en-US" sz="7197" b="tru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Augmented Mel-Spectrograms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70979" y="3157977"/>
            <a:ext cx="8152243" cy="343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515"/>
              </a:lnSpc>
              <a:buFont typeface="Arial"/>
              <a:buChar char="•"/>
            </a:pPr>
            <a:r>
              <a:rPr lang="en-US" sz="35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Spectrograms change shape depending on augmentation</a:t>
            </a:r>
          </a:p>
          <a:p>
            <a:pPr algn="l" marL="755651" indent="-377825" lvl="1">
              <a:lnSpc>
                <a:spcPts val="4515"/>
              </a:lnSpc>
              <a:buFont typeface="Arial"/>
              <a:buChar char="•"/>
            </a:pPr>
            <a:r>
              <a:rPr lang="en-US" sz="35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Pitch shift → vertical shift</a:t>
            </a:r>
          </a:p>
          <a:p>
            <a:pPr algn="l" marL="755651" indent="-377825" lvl="1">
              <a:lnSpc>
                <a:spcPts val="4515"/>
              </a:lnSpc>
              <a:buFont typeface="Arial"/>
              <a:buChar char="•"/>
            </a:pPr>
            <a:r>
              <a:rPr lang="en-US" sz="35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Time stretch → horizontal stretch</a:t>
            </a:r>
          </a:p>
          <a:p>
            <a:pPr algn="l" marL="755651" indent="-377825" lvl="1">
              <a:lnSpc>
                <a:spcPts val="4515"/>
              </a:lnSpc>
              <a:buFont typeface="Arial"/>
              <a:buChar char="•"/>
            </a:pPr>
            <a:r>
              <a:rPr lang="en-US" sz="35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Noise → texture changes</a:t>
            </a:r>
          </a:p>
          <a:p>
            <a:pPr algn="l">
              <a:lnSpc>
                <a:spcPts val="4515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61B7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42831">
            <a:off x="-183072" y="9034920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1"/>
                </a:lnTo>
                <a:lnTo>
                  <a:pt x="0" y="6989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438710">
            <a:off x="-4529841" y="-5573153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6989710"/>
                </a:moveTo>
                <a:lnTo>
                  <a:pt x="19149891" y="6989710"/>
                </a:lnTo>
                <a:lnTo>
                  <a:pt x="19149891" y="0"/>
                </a:lnTo>
                <a:lnTo>
                  <a:pt x="0" y="0"/>
                </a:lnTo>
                <a:lnTo>
                  <a:pt x="0" y="698971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382324" y="5143500"/>
            <a:ext cx="11496663" cy="4760039"/>
          </a:xfrm>
          <a:custGeom>
            <a:avLst/>
            <a:gdLst/>
            <a:ahLst/>
            <a:cxnLst/>
            <a:rect r="r" b="b" t="t" l="l"/>
            <a:pathLst>
              <a:path h="4760039" w="11496663">
                <a:moveTo>
                  <a:pt x="0" y="0"/>
                </a:moveTo>
                <a:lnTo>
                  <a:pt x="11496662" y="0"/>
                </a:lnTo>
                <a:lnTo>
                  <a:pt x="11496662" y="4760039"/>
                </a:lnTo>
                <a:lnTo>
                  <a:pt x="0" y="47600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6" r="0" b="-116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0" y="908445"/>
            <a:ext cx="17638064" cy="2129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43"/>
              </a:lnSpc>
            </a:pPr>
            <a:r>
              <a:rPr lang="en-US" sz="8572" b="true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Class Balancing using Augmentation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99684" y="3206707"/>
            <a:ext cx="15269405" cy="2293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515"/>
              </a:lnSpc>
              <a:buFont typeface="Arial"/>
              <a:buChar char="•"/>
            </a:pPr>
            <a:r>
              <a:rPr lang="en-US" sz="35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Target: 1000 samples per class</a:t>
            </a:r>
          </a:p>
          <a:p>
            <a:pPr algn="l" marL="755651" indent="-377825" lvl="1">
              <a:lnSpc>
                <a:spcPts val="4515"/>
              </a:lnSpc>
              <a:buFont typeface="Arial"/>
              <a:buChar char="•"/>
            </a:pPr>
            <a:r>
              <a:rPr lang="en-US" sz="35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Augmentation applied only to training set</a:t>
            </a:r>
          </a:p>
          <a:p>
            <a:pPr algn="l" marL="755651" indent="-377825" lvl="1">
              <a:lnSpc>
                <a:spcPts val="4515"/>
              </a:lnSpc>
              <a:buFont typeface="Arial"/>
              <a:buChar char="•"/>
            </a:pPr>
            <a:r>
              <a:rPr lang="en-US" sz="35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Final dataset becomes balanced → prevents model bias</a:t>
            </a:r>
          </a:p>
          <a:p>
            <a:pPr algn="l">
              <a:lnSpc>
                <a:spcPts val="4515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14761">
            <a:off x="5680419" y="6404287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1"/>
                </a:lnTo>
                <a:lnTo>
                  <a:pt x="0" y="6989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1572293">
            <a:off x="3014256" y="-4115096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graphicFrame>
        <p:nvGraphicFramePr>
          <p:cNvPr name="Object 4" id="4"/>
          <p:cNvGraphicFramePr/>
          <p:nvPr/>
        </p:nvGraphicFramePr>
        <p:xfrm>
          <a:off x="486437" y="3303363"/>
          <a:ext cx="5657850" cy="3143250"/>
        </p:xfrm>
        <a:graphic>
          <a:graphicData uri="http://schemas.openxmlformats.org/presentationml/2006/ole">
            <p:oleObj imgW="6781800" imgH="42672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367513" y="1413670"/>
            <a:ext cx="15408392" cy="920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37"/>
              </a:lnSpc>
            </a:pPr>
            <a:r>
              <a:rPr lang="en-US" sz="7197" b="tru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Models  Performance Summary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61B7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348418" y="1857005"/>
            <a:ext cx="8571795" cy="7661042"/>
          </a:xfrm>
          <a:custGeom>
            <a:avLst/>
            <a:gdLst/>
            <a:ahLst/>
            <a:cxnLst/>
            <a:rect r="r" b="b" t="t" l="l"/>
            <a:pathLst>
              <a:path h="7661042" w="8571795">
                <a:moveTo>
                  <a:pt x="0" y="0"/>
                </a:moveTo>
                <a:lnTo>
                  <a:pt x="8571795" y="0"/>
                </a:lnTo>
                <a:lnTo>
                  <a:pt x="8571795" y="7661042"/>
                </a:lnTo>
                <a:lnTo>
                  <a:pt x="0" y="76610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63013" y="756160"/>
            <a:ext cx="15389644" cy="110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43"/>
              </a:lnSpc>
            </a:pPr>
            <a:r>
              <a:rPr lang="en-US" sz="8572" b="true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Results &amp; Plots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63013" y="2123652"/>
            <a:ext cx="217646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36E9F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VGG19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547369" y="3819014"/>
            <a:ext cx="95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480464" y="4463881"/>
            <a:ext cx="8195929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36E9FD"/>
                </a:solidFill>
                <a:latin typeface="Canva Sans"/>
                <a:ea typeface="Canva Sans"/>
                <a:cs typeface="Canva Sans"/>
                <a:sym typeface="Canva Sans"/>
              </a:rPr>
              <a:t>The mo</a:t>
            </a:r>
            <a:r>
              <a:rPr lang="en-US" sz="3399">
                <a:solidFill>
                  <a:srgbClr val="36E9FD"/>
                </a:solidFill>
                <a:latin typeface="Canva Sans"/>
                <a:ea typeface="Canva Sans"/>
                <a:cs typeface="Canva Sans"/>
                <a:sym typeface="Canva Sans"/>
              </a:rPr>
              <a:t>del shows strong correct classification on most classes, especially houspa and hoopoe, with some confusion between similar bird species like graher1 and litgre1.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61B7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76393" y="1857005"/>
            <a:ext cx="9110321" cy="7534995"/>
          </a:xfrm>
          <a:custGeom>
            <a:avLst/>
            <a:gdLst/>
            <a:ahLst/>
            <a:cxnLst/>
            <a:rect r="r" b="b" t="t" l="l"/>
            <a:pathLst>
              <a:path h="7534995" w="9110321">
                <a:moveTo>
                  <a:pt x="0" y="0"/>
                </a:moveTo>
                <a:lnTo>
                  <a:pt x="9110321" y="0"/>
                </a:lnTo>
                <a:lnTo>
                  <a:pt x="9110321" y="7534994"/>
                </a:lnTo>
                <a:lnTo>
                  <a:pt x="0" y="75349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63013" y="756160"/>
            <a:ext cx="15389644" cy="110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43"/>
              </a:lnSpc>
            </a:pPr>
            <a:r>
              <a:rPr lang="en-US" sz="8572" b="true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Results &amp; Plots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63013" y="2123652"/>
            <a:ext cx="217646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36E9F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VGG19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547369" y="3819014"/>
            <a:ext cx="95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93293" y="4639434"/>
            <a:ext cx="8195929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36E9FD"/>
                </a:solidFill>
                <a:latin typeface="Canva Sans"/>
                <a:ea typeface="Canva Sans"/>
                <a:cs typeface="Canva Sans"/>
                <a:sym typeface="Canva Sans"/>
              </a:rPr>
              <a:t>All c</a:t>
            </a:r>
            <a:r>
              <a:rPr lang="en-US" sz="3399">
                <a:solidFill>
                  <a:srgbClr val="36E9FD"/>
                </a:solidFill>
                <a:latin typeface="Canva Sans"/>
                <a:ea typeface="Canva Sans"/>
                <a:cs typeface="Canva Sans"/>
                <a:sym typeface="Canva Sans"/>
              </a:rPr>
              <a:t>lasses achieved high AUC values (0.90–0.98), which indicates excellent class separability and strong overall discrimination performance.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61B7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57834" y="2161721"/>
            <a:ext cx="8527822" cy="7096579"/>
          </a:xfrm>
          <a:custGeom>
            <a:avLst/>
            <a:gdLst/>
            <a:ahLst/>
            <a:cxnLst/>
            <a:rect r="r" b="b" t="t" l="l"/>
            <a:pathLst>
              <a:path h="7096579" w="8527822">
                <a:moveTo>
                  <a:pt x="0" y="0"/>
                </a:moveTo>
                <a:lnTo>
                  <a:pt x="8527823" y="0"/>
                </a:lnTo>
                <a:lnTo>
                  <a:pt x="8527823" y="7096579"/>
                </a:lnTo>
                <a:lnTo>
                  <a:pt x="0" y="70965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63013" y="756160"/>
            <a:ext cx="15389644" cy="110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43"/>
              </a:lnSpc>
            </a:pPr>
            <a:r>
              <a:rPr lang="en-US" sz="8572" b="true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Results &amp; Plots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63013" y="2123652"/>
            <a:ext cx="217646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36E9F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VGG19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547369" y="3819014"/>
            <a:ext cx="95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93293" y="4639434"/>
            <a:ext cx="8195929" cy="358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36E9FD"/>
                </a:solidFill>
                <a:latin typeface="Canva Sans"/>
                <a:ea typeface="Canva Sans"/>
                <a:cs typeface="Canva Sans"/>
                <a:sym typeface="Canva Sans"/>
              </a:rPr>
              <a:t>The mod</a:t>
            </a:r>
            <a:r>
              <a:rPr lang="en-US" sz="3399">
                <a:solidFill>
                  <a:srgbClr val="36E9FD"/>
                </a:solidFill>
                <a:latin typeface="Canva Sans"/>
                <a:ea typeface="Canva Sans"/>
                <a:cs typeface="Canva Sans"/>
                <a:sym typeface="Canva Sans"/>
              </a:rPr>
              <a:t>el achieved 70% overall accuracy with a balanced weighted F1-score of 0.71, showing good general performance with slight weakness in Class 9.</a:t>
            </a:r>
          </a:p>
          <a:p>
            <a:pPr algn="ctr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61B7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8345" y="3112562"/>
            <a:ext cx="7969915" cy="6408045"/>
          </a:xfrm>
          <a:custGeom>
            <a:avLst/>
            <a:gdLst/>
            <a:ahLst/>
            <a:cxnLst/>
            <a:rect r="r" b="b" t="t" l="l"/>
            <a:pathLst>
              <a:path h="6408045" w="7969915">
                <a:moveTo>
                  <a:pt x="0" y="0"/>
                </a:moveTo>
                <a:lnTo>
                  <a:pt x="7969914" y="0"/>
                </a:lnTo>
                <a:lnTo>
                  <a:pt x="7969914" y="6408046"/>
                </a:lnTo>
                <a:lnTo>
                  <a:pt x="0" y="64080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63013" y="756160"/>
            <a:ext cx="15389644" cy="110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43"/>
              </a:lnSpc>
            </a:pPr>
            <a:r>
              <a:rPr lang="en-US" sz="8572" b="true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Results &amp; Plots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63013" y="2066471"/>
            <a:ext cx="318388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36E9F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ResNet50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547369" y="3819014"/>
            <a:ext cx="95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003205" y="3847589"/>
            <a:ext cx="7256095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36E9FD"/>
                </a:solidFill>
                <a:latin typeface="Canva Sans"/>
                <a:ea typeface="Canva Sans"/>
                <a:cs typeface="Canva Sans"/>
                <a:sym typeface="Canva Sans"/>
              </a:rPr>
              <a:t>The mod</a:t>
            </a:r>
            <a:r>
              <a:rPr lang="en-US" sz="3399">
                <a:solidFill>
                  <a:srgbClr val="36E9FD"/>
                </a:solidFill>
                <a:latin typeface="Canva Sans"/>
                <a:ea typeface="Canva Sans"/>
                <a:cs typeface="Canva Sans"/>
                <a:sym typeface="Canva Sans"/>
              </a:rPr>
              <a:t>el shows strong correct predictions across most classes, especially classes 2, 7, and 8, with minor confusion between a few similar categories.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61B7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1857005"/>
            <a:ext cx="8618056" cy="7145666"/>
          </a:xfrm>
          <a:custGeom>
            <a:avLst/>
            <a:gdLst/>
            <a:ahLst/>
            <a:cxnLst/>
            <a:rect r="r" b="b" t="t" l="l"/>
            <a:pathLst>
              <a:path h="7145666" w="8618056">
                <a:moveTo>
                  <a:pt x="0" y="0"/>
                </a:moveTo>
                <a:lnTo>
                  <a:pt x="8618056" y="0"/>
                </a:lnTo>
                <a:lnTo>
                  <a:pt x="8618056" y="7145665"/>
                </a:lnTo>
                <a:lnTo>
                  <a:pt x="0" y="71456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479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63013" y="756160"/>
            <a:ext cx="15389644" cy="110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43"/>
              </a:lnSpc>
            </a:pPr>
            <a:r>
              <a:rPr lang="en-US" sz="8572" b="true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Results &amp; Plots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63013" y="2066471"/>
            <a:ext cx="318388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36E9F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ResNet50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547369" y="3819014"/>
            <a:ext cx="95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663209" y="4639434"/>
            <a:ext cx="7726012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36E9FD"/>
                </a:solidFill>
                <a:latin typeface="Canva Sans"/>
                <a:ea typeface="Canva Sans"/>
                <a:cs typeface="Canva Sans"/>
                <a:sym typeface="Canva Sans"/>
              </a:rPr>
              <a:t>All class</a:t>
            </a:r>
            <a:r>
              <a:rPr lang="en-US" sz="3399">
                <a:solidFill>
                  <a:srgbClr val="36E9FD"/>
                </a:solidFill>
                <a:latin typeface="Canva Sans"/>
                <a:ea typeface="Canva Sans"/>
                <a:cs typeface="Canva Sans"/>
                <a:sym typeface="Canva Sans"/>
              </a:rPr>
              <a:t>es achieved high AUC values (≈0.94–0.98), indicating excellent discrimination ability and strong class separation.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61B7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57834" y="2756739"/>
            <a:ext cx="8531297" cy="5888546"/>
          </a:xfrm>
          <a:custGeom>
            <a:avLst/>
            <a:gdLst/>
            <a:ahLst/>
            <a:cxnLst/>
            <a:rect r="r" b="b" t="t" l="l"/>
            <a:pathLst>
              <a:path h="5888546" w="8531297">
                <a:moveTo>
                  <a:pt x="0" y="0"/>
                </a:moveTo>
                <a:lnTo>
                  <a:pt x="8531297" y="0"/>
                </a:lnTo>
                <a:lnTo>
                  <a:pt x="8531297" y="5888546"/>
                </a:lnTo>
                <a:lnTo>
                  <a:pt x="0" y="58885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63013" y="756160"/>
            <a:ext cx="15389644" cy="110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43"/>
              </a:lnSpc>
            </a:pPr>
            <a:r>
              <a:rPr lang="en-US" sz="8572" b="true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Results &amp; Plots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63013" y="2066471"/>
            <a:ext cx="318388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36E9F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ResNet50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547369" y="3819014"/>
            <a:ext cx="95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93293" y="4639434"/>
            <a:ext cx="8195929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36E9FD"/>
                </a:solidFill>
                <a:latin typeface="Canva Sans"/>
                <a:ea typeface="Canva Sans"/>
                <a:cs typeface="Canva Sans"/>
                <a:sym typeface="Canva Sans"/>
              </a:rPr>
              <a:t>The mod</a:t>
            </a:r>
            <a:r>
              <a:rPr lang="en-US" sz="3399">
                <a:solidFill>
                  <a:srgbClr val="36E9FD"/>
                </a:solidFill>
                <a:latin typeface="Canva Sans"/>
                <a:ea typeface="Canva Sans"/>
                <a:cs typeface="Canva Sans"/>
                <a:sym typeface="Canva Sans"/>
              </a:rPr>
              <a:t>el achieved 75% overall accuracy with a weighted F1-score of 0.76, showing stable and reliable overall performance.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957834" y="8578610"/>
            <a:ext cx="853129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36E9FD"/>
                </a:solidFill>
                <a:latin typeface="Canva Sans"/>
                <a:ea typeface="Canva Sans"/>
                <a:cs typeface="Canva Sans"/>
                <a:sym typeface="Canva Sans"/>
              </a:rPr>
              <a:t>Classification Report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61B7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92275" y="1677047"/>
            <a:ext cx="9712210" cy="8314512"/>
          </a:xfrm>
          <a:custGeom>
            <a:avLst/>
            <a:gdLst/>
            <a:ahLst/>
            <a:cxnLst/>
            <a:rect r="r" b="b" t="t" l="l"/>
            <a:pathLst>
              <a:path h="8314512" w="9712210">
                <a:moveTo>
                  <a:pt x="0" y="0"/>
                </a:moveTo>
                <a:lnTo>
                  <a:pt x="9712210" y="0"/>
                </a:lnTo>
                <a:lnTo>
                  <a:pt x="9712210" y="8314512"/>
                </a:lnTo>
                <a:lnTo>
                  <a:pt x="0" y="83145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63013" y="756160"/>
            <a:ext cx="15389644" cy="110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43"/>
              </a:lnSpc>
            </a:pPr>
            <a:r>
              <a:rPr lang="en-US" sz="8572" b="true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Results &amp; Plots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63013" y="2092577"/>
            <a:ext cx="413117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36E9F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Inception-V1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547369" y="3819014"/>
            <a:ext cx="95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578764" y="4639434"/>
            <a:ext cx="7256095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36E9FD"/>
                </a:solidFill>
                <a:latin typeface="Canva Sans"/>
                <a:ea typeface="Canva Sans"/>
                <a:cs typeface="Canva Sans"/>
                <a:sym typeface="Canva Sans"/>
              </a:rPr>
              <a:t>The mod</a:t>
            </a:r>
            <a:r>
              <a:rPr lang="en-US" sz="3399">
                <a:solidFill>
                  <a:srgbClr val="36E9FD"/>
                </a:solidFill>
                <a:latin typeface="Canva Sans"/>
                <a:ea typeface="Canva Sans"/>
                <a:cs typeface="Canva Sans"/>
                <a:sym typeface="Canva Sans"/>
              </a:rPr>
              <a:t>el shows strong class-wise performance, especially for grewar3, grnsan, and litgre1, with limited confusion among most classes.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61B7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19108" y="2187827"/>
            <a:ext cx="9551634" cy="7705222"/>
          </a:xfrm>
          <a:custGeom>
            <a:avLst/>
            <a:gdLst/>
            <a:ahLst/>
            <a:cxnLst/>
            <a:rect r="r" b="b" t="t" l="l"/>
            <a:pathLst>
              <a:path h="7705222" w="9551634">
                <a:moveTo>
                  <a:pt x="0" y="0"/>
                </a:moveTo>
                <a:lnTo>
                  <a:pt x="9551634" y="0"/>
                </a:lnTo>
                <a:lnTo>
                  <a:pt x="9551634" y="7705222"/>
                </a:lnTo>
                <a:lnTo>
                  <a:pt x="0" y="77052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63013" y="756160"/>
            <a:ext cx="15389644" cy="110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43"/>
              </a:lnSpc>
            </a:pPr>
            <a:r>
              <a:rPr lang="en-US" sz="8572" b="true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Results &amp; Plots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63013" y="2092577"/>
            <a:ext cx="413117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36E9F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Inception-V1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547369" y="3819014"/>
            <a:ext cx="95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263013" y="4243511"/>
            <a:ext cx="6655646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36E9FD"/>
                </a:solidFill>
                <a:latin typeface="Canva Sans"/>
                <a:ea typeface="Canva Sans"/>
                <a:cs typeface="Canva Sans"/>
                <a:sym typeface="Canva Sans"/>
              </a:rPr>
              <a:t>The mod</a:t>
            </a:r>
            <a:r>
              <a:rPr lang="en-US" sz="3399">
                <a:solidFill>
                  <a:srgbClr val="36E9FD"/>
                </a:solidFill>
                <a:latin typeface="Canva Sans"/>
                <a:ea typeface="Canva Sans"/>
                <a:cs typeface="Canva Sans"/>
                <a:sym typeface="Canva Sans"/>
              </a:rPr>
              <a:t>el achieved excellent ROC performance with micro-average AUC ≈ 0.97, confirming strong overall class separability.</a:t>
            </a:r>
          </a:p>
          <a:p>
            <a:pPr algn="ctr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61B7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33758" y="4835142"/>
            <a:ext cx="11365980" cy="4751110"/>
          </a:xfrm>
          <a:custGeom>
            <a:avLst/>
            <a:gdLst/>
            <a:ahLst/>
            <a:cxnLst/>
            <a:rect r="r" b="b" t="t" l="l"/>
            <a:pathLst>
              <a:path h="4751110" w="11365980">
                <a:moveTo>
                  <a:pt x="0" y="0"/>
                </a:moveTo>
                <a:lnTo>
                  <a:pt x="11365981" y="0"/>
                </a:lnTo>
                <a:lnTo>
                  <a:pt x="11365981" y="4751111"/>
                </a:lnTo>
                <a:lnTo>
                  <a:pt x="0" y="47511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0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63013" y="756160"/>
            <a:ext cx="15389644" cy="110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43"/>
              </a:lnSpc>
            </a:pPr>
            <a:r>
              <a:rPr lang="en-US" sz="8572" b="true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Results &amp; Plots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63013" y="2092577"/>
            <a:ext cx="413117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36E9F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Inception-V1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547369" y="3819014"/>
            <a:ext cx="95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7032546" y="2121152"/>
            <a:ext cx="10780471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36E9FD"/>
                </a:solidFill>
                <a:latin typeface="Canva Sans"/>
                <a:ea typeface="Canva Sans"/>
                <a:cs typeface="Canva Sans"/>
                <a:sym typeface="Canva Sans"/>
              </a:rPr>
              <a:t>The mod</a:t>
            </a:r>
            <a:r>
              <a:rPr lang="en-US" sz="3399">
                <a:solidFill>
                  <a:srgbClr val="36E9FD"/>
                </a:solidFill>
                <a:latin typeface="Canva Sans"/>
                <a:ea typeface="Canva Sans"/>
                <a:cs typeface="Canva Sans"/>
                <a:sym typeface="Canva Sans"/>
              </a:rPr>
              <a:t>el achieved 77% overall accuracy with a weighted F1-score of 0.77, showing balanced performance across most classes, with strongest results on comgre, grnsan, and houspa.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61B7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07495" y="1857005"/>
            <a:ext cx="8841131" cy="7828036"/>
          </a:xfrm>
          <a:custGeom>
            <a:avLst/>
            <a:gdLst/>
            <a:ahLst/>
            <a:cxnLst/>
            <a:rect r="r" b="b" t="t" l="l"/>
            <a:pathLst>
              <a:path h="7828036" w="8841131">
                <a:moveTo>
                  <a:pt x="0" y="0"/>
                </a:moveTo>
                <a:lnTo>
                  <a:pt x="8841132" y="0"/>
                </a:lnTo>
                <a:lnTo>
                  <a:pt x="8841132" y="7828036"/>
                </a:lnTo>
                <a:lnTo>
                  <a:pt x="0" y="78280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885" b="-13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63013" y="756160"/>
            <a:ext cx="15389644" cy="110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43"/>
              </a:lnSpc>
            </a:pPr>
            <a:r>
              <a:rPr lang="en-US" sz="8572" b="true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Results &amp; Plots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01116" y="2014258"/>
            <a:ext cx="270569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36E9F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ViT-B/16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547369" y="3819014"/>
            <a:ext cx="95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578764" y="4065091"/>
            <a:ext cx="7543267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36E9FD"/>
                </a:solidFill>
                <a:latin typeface="Canva Sans"/>
                <a:ea typeface="Canva Sans"/>
                <a:cs typeface="Canva Sans"/>
                <a:sym typeface="Canva Sans"/>
              </a:rPr>
              <a:t>The mod</a:t>
            </a:r>
            <a:r>
              <a:rPr lang="en-US" sz="3399">
                <a:solidFill>
                  <a:srgbClr val="36E9FD"/>
                </a:solidFill>
                <a:latin typeface="Canva Sans"/>
                <a:ea typeface="Canva Sans"/>
                <a:cs typeface="Canva Sans"/>
                <a:sym typeface="Canva Sans"/>
              </a:rPr>
              <a:t>el shows high correct classification on most classes, especially houspa, hoopoe, and comgre, with limited confusion between similar bird species.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61B7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14932" y="2230802"/>
            <a:ext cx="9694444" cy="7027498"/>
          </a:xfrm>
          <a:custGeom>
            <a:avLst/>
            <a:gdLst/>
            <a:ahLst/>
            <a:cxnLst/>
            <a:rect r="r" b="b" t="t" l="l"/>
            <a:pathLst>
              <a:path h="7027498" w="9694444">
                <a:moveTo>
                  <a:pt x="0" y="0"/>
                </a:moveTo>
                <a:lnTo>
                  <a:pt x="9694444" y="0"/>
                </a:lnTo>
                <a:lnTo>
                  <a:pt x="9694444" y="7027498"/>
                </a:lnTo>
                <a:lnTo>
                  <a:pt x="0" y="7027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63013" y="756160"/>
            <a:ext cx="15389644" cy="110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43"/>
              </a:lnSpc>
            </a:pPr>
            <a:r>
              <a:rPr lang="en-US" sz="8572" b="true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Results &amp; Plots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01116" y="2014258"/>
            <a:ext cx="270569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36E9F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ViT-B/16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547369" y="3819014"/>
            <a:ext cx="95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578764" y="4639434"/>
            <a:ext cx="7256095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36E9FD"/>
                </a:solidFill>
                <a:latin typeface="Canva Sans"/>
                <a:ea typeface="Canva Sans"/>
                <a:cs typeface="Canva Sans"/>
                <a:sym typeface="Canva Sans"/>
              </a:rPr>
              <a:t>All classes achieved exc</a:t>
            </a:r>
            <a:r>
              <a:rPr lang="en-US" sz="3399">
                <a:solidFill>
                  <a:srgbClr val="36E9FD"/>
                </a:solidFill>
                <a:latin typeface="Canva Sans"/>
                <a:ea typeface="Canva Sans"/>
                <a:cs typeface="Canva Sans"/>
                <a:sym typeface="Canva Sans"/>
              </a:rPr>
              <a:t>ellent AUC values (≈0.95–0.99), confirming very strong class separability and discrimination performance.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61B7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16849" y="2601983"/>
            <a:ext cx="9193010" cy="6485978"/>
          </a:xfrm>
          <a:custGeom>
            <a:avLst/>
            <a:gdLst/>
            <a:ahLst/>
            <a:cxnLst/>
            <a:rect r="r" b="b" t="t" l="l"/>
            <a:pathLst>
              <a:path h="6485978" w="9193010">
                <a:moveTo>
                  <a:pt x="0" y="0"/>
                </a:moveTo>
                <a:lnTo>
                  <a:pt x="9193010" y="0"/>
                </a:lnTo>
                <a:lnTo>
                  <a:pt x="9193010" y="6485977"/>
                </a:lnTo>
                <a:lnTo>
                  <a:pt x="0" y="64859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63013" y="756160"/>
            <a:ext cx="15389644" cy="110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43"/>
              </a:lnSpc>
            </a:pPr>
            <a:r>
              <a:rPr lang="en-US" sz="8572" b="true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Results &amp; Plots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01116" y="2014258"/>
            <a:ext cx="270569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36E9F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ViT-B/16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547369" y="3819014"/>
            <a:ext cx="95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578764" y="4639434"/>
            <a:ext cx="7256095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36E9FD"/>
                </a:solidFill>
                <a:latin typeface="Canva Sans"/>
                <a:ea typeface="Canva Sans"/>
                <a:cs typeface="Canva Sans"/>
                <a:sym typeface="Canva Sans"/>
              </a:rPr>
              <a:t>The mod</a:t>
            </a:r>
            <a:r>
              <a:rPr lang="en-US" sz="3399">
                <a:solidFill>
                  <a:srgbClr val="36E9FD"/>
                </a:solidFill>
                <a:latin typeface="Canva Sans"/>
                <a:ea typeface="Canva Sans"/>
                <a:cs typeface="Canva Sans"/>
                <a:sym typeface="Canva Sans"/>
              </a:rPr>
              <a:t>el achieved 78.8% overall accuracy with a weighted F1-score of 0.79, showing strong and balanced performance across most classes.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756814" y="-403607"/>
            <a:ext cx="6531186" cy="11641778"/>
            <a:chOff x="0" y="0"/>
            <a:chExt cx="1720148" cy="30661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20148" cy="3066147"/>
            </a:xfrm>
            <a:custGeom>
              <a:avLst/>
              <a:gdLst/>
              <a:ahLst/>
              <a:cxnLst/>
              <a:rect r="r" b="b" t="t" l="l"/>
              <a:pathLst>
                <a:path h="3066147" w="1720148">
                  <a:moveTo>
                    <a:pt x="0" y="0"/>
                  </a:moveTo>
                  <a:lnTo>
                    <a:pt x="1720148" y="0"/>
                  </a:lnTo>
                  <a:lnTo>
                    <a:pt x="1720148" y="3066147"/>
                  </a:lnTo>
                  <a:lnTo>
                    <a:pt x="0" y="3066147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000000">
                    <a:alpha val="56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20148" cy="3104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true" rot="244472">
            <a:off x="-655069" y="-5609139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6989710"/>
                </a:moveTo>
                <a:lnTo>
                  <a:pt x="19149891" y="6989710"/>
                </a:lnTo>
                <a:lnTo>
                  <a:pt x="19149891" y="0"/>
                </a:lnTo>
                <a:lnTo>
                  <a:pt x="0" y="0"/>
                </a:lnTo>
                <a:lnTo>
                  <a:pt x="0" y="698971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80011" y="9512383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568691" y="8499320"/>
            <a:ext cx="4385755" cy="920009"/>
            <a:chOff x="0" y="0"/>
            <a:chExt cx="1155096" cy="24230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55096" cy="242307"/>
            </a:xfrm>
            <a:custGeom>
              <a:avLst/>
              <a:gdLst/>
              <a:ahLst/>
              <a:cxnLst/>
              <a:rect r="r" b="b" t="t" l="l"/>
              <a:pathLst>
                <a:path h="242307" w="1155096">
                  <a:moveTo>
                    <a:pt x="577548" y="0"/>
                  </a:moveTo>
                  <a:cubicBezTo>
                    <a:pt x="258577" y="0"/>
                    <a:pt x="0" y="54242"/>
                    <a:pt x="0" y="121153"/>
                  </a:cubicBezTo>
                  <a:cubicBezTo>
                    <a:pt x="0" y="188065"/>
                    <a:pt x="258577" y="242307"/>
                    <a:pt x="577548" y="242307"/>
                  </a:cubicBezTo>
                  <a:cubicBezTo>
                    <a:pt x="896519" y="242307"/>
                    <a:pt x="1155096" y="188065"/>
                    <a:pt x="1155096" y="121153"/>
                  </a:cubicBezTo>
                  <a:cubicBezTo>
                    <a:pt x="1155096" y="54242"/>
                    <a:pt x="896519" y="0"/>
                    <a:pt x="577548" y="0"/>
                  </a:cubicBezTo>
                  <a:close/>
                </a:path>
              </a:pathLst>
            </a:custGeom>
            <a:solidFill>
              <a:srgbClr val="36E9FD">
                <a:alpha val="26667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08290" y="-15384"/>
              <a:ext cx="938515" cy="2349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3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95643" y="2526838"/>
            <a:ext cx="8424234" cy="6275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1"/>
              </a:lnSpc>
            </a:pPr>
            <a:r>
              <a:rPr lang="en-US" sz="3100" spc="145" b="true">
                <a:solidFill>
                  <a:srgbClr val="36E9FD"/>
                </a:solidFill>
                <a:latin typeface="DM Sans Bold"/>
                <a:ea typeface="DM Sans Bold"/>
                <a:cs typeface="DM Sans Bold"/>
                <a:sym typeface="DM Sans Bold"/>
              </a:rPr>
              <a:t>Strengths:</a:t>
            </a:r>
          </a:p>
          <a:p>
            <a:pPr algn="l" marL="669293" indent="-334646" lvl="1">
              <a:lnSpc>
                <a:spcPts val="3131"/>
              </a:lnSpc>
              <a:buFont typeface="Arial"/>
              <a:buChar char="•"/>
            </a:pPr>
            <a:r>
              <a:rPr lang="en-US" sz="3100" spc="14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Simple, stable architecture</a:t>
            </a:r>
          </a:p>
          <a:p>
            <a:pPr algn="l" marL="669293" indent="-334646" lvl="1">
              <a:lnSpc>
                <a:spcPts val="3131"/>
              </a:lnSpc>
              <a:buFont typeface="Arial"/>
              <a:buChar char="•"/>
            </a:pPr>
            <a:r>
              <a:rPr lang="en-US" sz="3100" spc="14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Good at local texture detection</a:t>
            </a:r>
          </a:p>
          <a:p>
            <a:pPr algn="l">
              <a:lnSpc>
                <a:spcPts val="3131"/>
              </a:lnSpc>
            </a:pPr>
            <a:r>
              <a:rPr lang="en-US" sz="3100" spc="145" b="true">
                <a:solidFill>
                  <a:srgbClr val="36E9FD"/>
                </a:solidFill>
                <a:latin typeface="DM Sans Bold"/>
                <a:ea typeface="DM Sans Bold"/>
                <a:cs typeface="DM Sans Bold"/>
                <a:sym typeface="DM Sans Bold"/>
              </a:rPr>
              <a:t>Weaknesses:</a:t>
            </a:r>
          </a:p>
          <a:p>
            <a:pPr algn="l" marL="669293" indent="-334646" lvl="1">
              <a:lnSpc>
                <a:spcPts val="3131"/>
              </a:lnSpc>
              <a:buFont typeface="Arial"/>
              <a:buChar char="•"/>
            </a:pPr>
            <a:r>
              <a:rPr lang="en-US" sz="3100" spc="14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No residual connections → vanishing gradients</a:t>
            </a:r>
          </a:p>
          <a:p>
            <a:pPr algn="l" marL="669293" indent="-334646" lvl="1">
              <a:lnSpc>
                <a:spcPts val="3131"/>
              </a:lnSpc>
              <a:buFont typeface="Arial"/>
              <a:buChar char="•"/>
            </a:pPr>
            <a:r>
              <a:rPr lang="en-US" sz="3100" spc="14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Very large model → slow &amp; heavy</a:t>
            </a:r>
          </a:p>
          <a:p>
            <a:pPr algn="l" marL="669293" indent="-334646" lvl="1">
              <a:lnSpc>
                <a:spcPts val="3131"/>
              </a:lnSpc>
              <a:buFont typeface="Arial"/>
              <a:buChar char="•"/>
            </a:pPr>
            <a:r>
              <a:rPr lang="en-US" sz="3100" spc="14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Weak generalization on spectrograms</a:t>
            </a:r>
          </a:p>
          <a:p>
            <a:pPr algn="l" marL="669293" indent="-334646" lvl="1">
              <a:lnSpc>
                <a:spcPts val="3131"/>
              </a:lnSpc>
              <a:buFont typeface="Arial"/>
              <a:buChar char="•"/>
            </a:pPr>
            <a:r>
              <a:rPr lang="en-US" sz="3100" spc="14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Overfits easily</a:t>
            </a:r>
          </a:p>
          <a:p>
            <a:pPr algn="l">
              <a:lnSpc>
                <a:spcPts val="3131"/>
              </a:lnSpc>
            </a:pPr>
            <a:r>
              <a:rPr lang="en-US" sz="3100" spc="145" b="true">
                <a:solidFill>
                  <a:srgbClr val="36E9FD"/>
                </a:solidFill>
                <a:latin typeface="DM Sans Bold"/>
                <a:ea typeface="DM Sans Bold"/>
                <a:cs typeface="DM Sans Bold"/>
                <a:sym typeface="DM Sans Bold"/>
              </a:rPr>
              <a:t>Why performance is lowest:</a:t>
            </a:r>
          </a:p>
          <a:p>
            <a:pPr algn="l" marL="669293" indent="-334646" lvl="1">
              <a:lnSpc>
                <a:spcPts val="3131"/>
              </a:lnSpc>
              <a:buFont typeface="Arial"/>
              <a:buChar char="•"/>
            </a:pPr>
            <a:r>
              <a:rPr lang="en-US" sz="3100" spc="14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Cannot capture long-range time–frequency relationships</a:t>
            </a:r>
          </a:p>
          <a:p>
            <a:pPr algn="l" marL="669293" indent="-334646" lvl="1">
              <a:lnSpc>
                <a:spcPts val="3131"/>
              </a:lnSpc>
              <a:buFont typeface="Arial"/>
              <a:buChar char="•"/>
            </a:pPr>
            <a:r>
              <a:rPr lang="en-US" sz="3100" spc="14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Struggles with complex bird call patterns</a:t>
            </a:r>
          </a:p>
          <a:p>
            <a:pPr algn="l">
              <a:lnSpc>
                <a:spcPts val="3131"/>
              </a:lnSpc>
            </a:pPr>
            <a:r>
              <a:rPr lang="en-US" sz="3100" spc="145" b="true">
                <a:solidFill>
                  <a:srgbClr val="36E9FD"/>
                </a:solidFill>
                <a:latin typeface="DM Sans Bold"/>
                <a:ea typeface="DM Sans Bold"/>
                <a:cs typeface="DM Sans Bold"/>
                <a:sym typeface="DM Sans Bold"/>
              </a:rPr>
              <a:t>Test Accuracy: ~70%</a:t>
            </a:r>
          </a:p>
          <a:p>
            <a:pPr algn="l">
              <a:lnSpc>
                <a:spcPts val="3131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1028700" y="399779"/>
            <a:ext cx="5654326" cy="1299612"/>
            <a:chOff x="0" y="0"/>
            <a:chExt cx="1768157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68157" cy="406400"/>
            </a:xfrm>
            <a:custGeom>
              <a:avLst/>
              <a:gdLst/>
              <a:ahLst/>
              <a:cxnLst/>
              <a:rect r="r" b="b" t="t" l="l"/>
              <a:pathLst>
                <a:path h="406400" w="1768157">
                  <a:moveTo>
                    <a:pt x="1564957" y="0"/>
                  </a:moveTo>
                  <a:cubicBezTo>
                    <a:pt x="1677182" y="0"/>
                    <a:pt x="1768157" y="90976"/>
                    <a:pt x="1768157" y="203200"/>
                  </a:cubicBezTo>
                  <a:cubicBezTo>
                    <a:pt x="1768157" y="315424"/>
                    <a:pt x="1677182" y="406400"/>
                    <a:pt x="156495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76815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3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82187" y="810679"/>
            <a:ext cx="5147353" cy="589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4"/>
              </a:lnSpc>
            </a:pPr>
            <a:r>
              <a:rPr lang="en-US" b="true" sz="4720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VGG19 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919877" y="2376724"/>
            <a:ext cx="9574946" cy="6425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sz="3100" spc="145" b="true">
                <a:solidFill>
                  <a:srgbClr val="36E9FD"/>
                </a:solidFill>
                <a:latin typeface="DM Sans Bold"/>
                <a:ea typeface="DM Sans Bold"/>
                <a:cs typeface="DM Sans Bold"/>
                <a:sym typeface="DM Sans Bold"/>
              </a:rPr>
              <a:t>Strengths:</a:t>
            </a:r>
          </a:p>
          <a:p>
            <a:pPr algn="l" marL="669293" indent="-334646" lvl="1">
              <a:lnSpc>
                <a:spcPts val="3224"/>
              </a:lnSpc>
              <a:buFont typeface="Arial"/>
              <a:buChar char="•"/>
            </a:pPr>
            <a:r>
              <a:rPr lang="en-US" sz="3100" spc="14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Residual blocks solve vanishing gradients</a:t>
            </a:r>
          </a:p>
          <a:p>
            <a:pPr algn="l" marL="669293" indent="-334646" lvl="1">
              <a:lnSpc>
                <a:spcPts val="3224"/>
              </a:lnSpc>
              <a:buFont typeface="Arial"/>
              <a:buChar char="•"/>
            </a:pPr>
            <a:r>
              <a:rPr lang="en-US" sz="3100" spc="14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</a:t>
            </a:r>
            <a:r>
              <a:rPr lang="en-US" sz="3100" spc="14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earns hierarchical spectrogram features</a:t>
            </a:r>
          </a:p>
          <a:p>
            <a:pPr algn="l" marL="669293" indent="-334646" lvl="1">
              <a:lnSpc>
                <a:spcPts val="3224"/>
              </a:lnSpc>
              <a:buFont typeface="Arial"/>
              <a:buChar char="•"/>
            </a:pPr>
            <a:r>
              <a:rPr lang="en-US" sz="3100" spc="14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Good</a:t>
            </a:r>
            <a:r>
              <a:rPr lang="en-US" sz="3100" spc="14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generalization and stable training</a:t>
            </a:r>
          </a:p>
          <a:p>
            <a:pPr algn="l" marL="669293" indent="-334646" lvl="1">
              <a:lnSpc>
                <a:spcPts val="3224"/>
              </a:lnSpc>
              <a:buFont typeface="Arial"/>
              <a:buChar char="•"/>
            </a:pPr>
            <a:r>
              <a:rPr lang="en-US" sz="3100" spc="14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Performs strongly even with partial fine-tuning</a:t>
            </a:r>
          </a:p>
          <a:p>
            <a:pPr algn="l">
              <a:lnSpc>
                <a:spcPts val="3224"/>
              </a:lnSpc>
            </a:pPr>
            <a:r>
              <a:rPr lang="en-US" sz="3100" spc="145" b="true">
                <a:solidFill>
                  <a:srgbClr val="36E9FD"/>
                </a:solidFill>
                <a:latin typeface="DM Sans Bold"/>
                <a:ea typeface="DM Sans Bold"/>
                <a:cs typeface="DM Sans Bold"/>
                <a:sym typeface="DM Sans Bold"/>
              </a:rPr>
              <a:t>Weaknesses:</a:t>
            </a:r>
          </a:p>
          <a:p>
            <a:pPr algn="l" marL="669293" indent="-334646" lvl="1">
              <a:lnSpc>
                <a:spcPts val="3224"/>
              </a:lnSpc>
              <a:buFont typeface="Arial"/>
              <a:buChar char="•"/>
            </a:pPr>
            <a:r>
              <a:rPr lang="en-US" sz="3100" spc="14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Heavier than Inception</a:t>
            </a:r>
          </a:p>
          <a:p>
            <a:pPr algn="l" marL="669293" indent="-334646" lvl="1">
              <a:lnSpc>
                <a:spcPts val="3224"/>
              </a:lnSpc>
              <a:buFont typeface="Arial"/>
              <a:buChar char="•"/>
            </a:pPr>
            <a:r>
              <a:rPr lang="en-US" sz="3100" spc="14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Not as global as Transformers</a:t>
            </a:r>
          </a:p>
          <a:p>
            <a:pPr algn="l">
              <a:lnSpc>
                <a:spcPts val="3224"/>
              </a:lnSpc>
            </a:pPr>
            <a:r>
              <a:rPr lang="en-US" sz="3100" spc="145" b="true">
                <a:solidFill>
                  <a:srgbClr val="36E9FD"/>
                </a:solidFill>
                <a:latin typeface="DM Sans Bold"/>
                <a:ea typeface="DM Sans Bold"/>
                <a:cs typeface="DM Sans Bold"/>
                <a:sym typeface="DM Sans Bold"/>
              </a:rPr>
              <a:t>Why it performs well:</a:t>
            </a:r>
          </a:p>
          <a:p>
            <a:pPr algn="l" marL="669293" indent="-334646" lvl="1">
              <a:lnSpc>
                <a:spcPts val="3224"/>
              </a:lnSpc>
              <a:buFont typeface="Arial"/>
              <a:buChar char="•"/>
            </a:pPr>
            <a:r>
              <a:rPr lang="en-US" sz="3100" spc="14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Skip connections help learn harmonic structures and frequency patterns</a:t>
            </a:r>
          </a:p>
          <a:p>
            <a:pPr algn="l" marL="669293" indent="-334646" lvl="1">
              <a:lnSpc>
                <a:spcPts val="3224"/>
              </a:lnSpc>
              <a:buFont typeface="Arial"/>
              <a:buChar char="•"/>
            </a:pPr>
            <a:r>
              <a:rPr lang="en-US" sz="3100" spc="14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Fine-tuning layer3 + classifier prevents overfitting</a:t>
            </a:r>
          </a:p>
          <a:p>
            <a:pPr algn="l">
              <a:lnSpc>
                <a:spcPts val="3224"/>
              </a:lnSpc>
            </a:pPr>
            <a:r>
              <a:rPr lang="en-US" sz="3100" spc="145" b="true">
                <a:solidFill>
                  <a:srgbClr val="36E9FD"/>
                </a:solidFill>
                <a:latin typeface="DM Sans Bold"/>
                <a:ea typeface="DM Sans Bold"/>
                <a:cs typeface="DM Sans Bold"/>
                <a:sym typeface="DM Sans Bold"/>
              </a:rPr>
              <a:t>Test Accuracy: ~77.2%</a:t>
            </a:r>
          </a:p>
          <a:p>
            <a:pPr algn="l">
              <a:lnSpc>
                <a:spcPts val="3224"/>
              </a:lnSpc>
            </a:pPr>
          </a:p>
        </p:txBody>
      </p:sp>
      <p:grpSp>
        <p:nvGrpSpPr>
          <p:cNvPr name="Group 16" id="16"/>
          <p:cNvGrpSpPr/>
          <p:nvPr/>
        </p:nvGrpSpPr>
        <p:grpSpPr>
          <a:xfrm rot="0">
            <a:off x="10555244" y="399779"/>
            <a:ext cx="5654326" cy="1299612"/>
            <a:chOff x="0" y="0"/>
            <a:chExt cx="1768157" cy="406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68157" cy="406400"/>
            </a:xfrm>
            <a:custGeom>
              <a:avLst/>
              <a:gdLst/>
              <a:ahLst/>
              <a:cxnLst/>
              <a:rect r="r" b="b" t="t" l="l"/>
              <a:pathLst>
                <a:path h="406400" w="1768157">
                  <a:moveTo>
                    <a:pt x="1564957" y="0"/>
                  </a:moveTo>
                  <a:cubicBezTo>
                    <a:pt x="1677182" y="0"/>
                    <a:pt x="1768157" y="90976"/>
                    <a:pt x="1768157" y="203200"/>
                  </a:cubicBezTo>
                  <a:cubicBezTo>
                    <a:pt x="1768157" y="315424"/>
                    <a:pt x="1677182" y="406400"/>
                    <a:pt x="156495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76815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3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1133673" y="811956"/>
            <a:ext cx="5147353" cy="589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4"/>
              </a:lnSpc>
            </a:pPr>
            <a:r>
              <a:rPr lang="en-US" b="true" sz="4720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RESNET50  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756814" y="-403607"/>
            <a:ext cx="6531186" cy="11641778"/>
            <a:chOff x="0" y="0"/>
            <a:chExt cx="1720148" cy="30661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20148" cy="3066147"/>
            </a:xfrm>
            <a:custGeom>
              <a:avLst/>
              <a:gdLst/>
              <a:ahLst/>
              <a:cxnLst/>
              <a:rect r="r" b="b" t="t" l="l"/>
              <a:pathLst>
                <a:path h="3066147" w="1720148">
                  <a:moveTo>
                    <a:pt x="0" y="0"/>
                  </a:moveTo>
                  <a:lnTo>
                    <a:pt x="1720148" y="0"/>
                  </a:lnTo>
                  <a:lnTo>
                    <a:pt x="1720148" y="3066147"/>
                  </a:lnTo>
                  <a:lnTo>
                    <a:pt x="0" y="3066147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000000">
                    <a:alpha val="56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20148" cy="3104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true" rot="244472">
            <a:off x="-655069" y="-5609139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6989710"/>
                </a:moveTo>
                <a:lnTo>
                  <a:pt x="19149891" y="6989710"/>
                </a:lnTo>
                <a:lnTo>
                  <a:pt x="19149891" y="0"/>
                </a:lnTo>
                <a:lnTo>
                  <a:pt x="0" y="0"/>
                </a:lnTo>
                <a:lnTo>
                  <a:pt x="0" y="698971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80011" y="9512383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568691" y="8499320"/>
            <a:ext cx="4385755" cy="920009"/>
            <a:chOff x="0" y="0"/>
            <a:chExt cx="1155096" cy="24230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55096" cy="242307"/>
            </a:xfrm>
            <a:custGeom>
              <a:avLst/>
              <a:gdLst/>
              <a:ahLst/>
              <a:cxnLst/>
              <a:rect r="r" b="b" t="t" l="l"/>
              <a:pathLst>
                <a:path h="242307" w="1155096">
                  <a:moveTo>
                    <a:pt x="577548" y="0"/>
                  </a:moveTo>
                  <a:cubicBezTo>
                    <a:pt x="258577" y="0"/>
                    <a:pt x="0" y="54242"/>
                    <a:pt x="0" y="121153"/>
                  </a:cubicBezTo>
                  <a:cubicBezTo>
                    <a:pt x="0" y="188065"/>
                    <a:pt x="258577" y="242307"/>
                    <a:pt x="577548" y="242307"/>
                  </a:cubicBezTo>
                  <a:cubicBezTo>
                    <a:pt x="896519" y="242307"/>
                    <a:pt x="1155096" y="188065"/>
                    <a:pt x="1155096" y="121153"/>
                  </a:cubicBezTo>
                  <a:cubicBezTo>
                    <a:pt x="1155096" y="54242"/>
                    <a:pt x="896519" y="0"/>
                    <a:pt x="577548" y="0"/>
                  </a:cubicBezTo>
                  <a:close/>
                </a:path>
              </a:pathLst>
            </a:custGeom>
            <a:solidFill>
              <a:srgbClr val="36E9FD">
                <a:alpha val="26667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08290" y="-15384"/>
              <a:ext cx="938515" cy="2349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3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719766" y="2226327"/>
            <a:ext cx="8424234" cy="5494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1"/>
              </a:lnSpc>
            </a:pPr>
            <a:r>
              <a:rPr lang="en-US" sz="3100" spc="145" b="true">
                <a:solidFill>
                  <a:srgbClr val="36E9FD"/>
                </a:solidFill>
                <a:latin typeface="DM Sans Bold"/>
                <a:ea typeface="DM Sans Bold"/>
                <a:cs typeface="DM Sans Bold"/>
                <a:sym typeface="DM Sans Bold"/>
              </a:rPr>
              <a:t>Strengths:</a:t>
            </a:r>
          </a:p>
          <a:p>
            <a:pPr algn="l" marL="669293" indent="-334646" lvl="1">
              <a:lnSpc>
                <a:spcPts val="3131"/>
              </a:lnSpc>
              <a:buFont typeface="Arial"/>
              <a:buChar char="•"/>
            </a:pPr>
            <a:r>
              <a:rPr lang="en-US" sz="3100" spc="14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Multi-scale convolution filters</a:t>
            </a:r>
          </a:p>
          <a:p>
            <a:pPr algn="l" marL="669293" indent="-334646" lvl="1">
              <a:lnSpc>
                <a:spcPts val="3131"/>
              </a:lnSpc>
              <a:buFont typeface="Arial"/>
              <a:buChar char="•"/>
            </a:pPr>
            <a:r>
              <a:rPr lang="en-US" sz="3100" spc="14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Efficient and lightweight</a:t>
            </a:r>
          </a:p>
          <a:p>
            <a:pPr algn="l" marL="669293" indent="-334646" lvl="1">
              <a:lnSpc>
                <a:spcPts val="3131"/>
              </a:lnSpc>
              <a:buFont typeface="Arial"/>
              <a:buChar char="•"/>
            </a:pPr>
            <a:r>
              <a:rPr lang="en-US" sz="3100" spc="14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Good for varying bird frequencies</a:t>
            </a:r>
          </a:p>
          <a:p>
            <a:pPr algn="l">
              <a:lnSpc>
                <a:spcPts val="3131"/>
              </a:lnSpc>
            </a:pPr>
            <a:r>
              <a:rPr lang="en-US" sz="3100" spc="145" b="true">
                <a:solidFill>
                  <a:srgbClr val="36E9FD"/>
                </a:solidFill>
                <a:latin typeface="DM Sans Bold"/>
                <a:ea typeface="DM Sans Bold"/>
                <a:cs typeface="DM Sans Bold"/>
                <a:sym typeface="DM Sans Bold"/>
              </a:rPr>
              <a:t>Weaknesses:</a:t>
            </a:r>
          </a:p>
          <a:p>
            <a:pPr algn="l" marL="669293" indent="-334646" lvl="1">
              <a:lnSpc>
                <a:spcPts val="3131"/>
              </a:lnSpc>
              <a:buFont typeface="Arial"/>
              <a:buChar char="•"/>
            </a:pPr>
            <a:r>
              <a:rPr lang="en-US" sz="3100" spc="14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No residuals (weaker than modern CNNs)</a:t>
            </a:r>
          </a:p>
          <a:p>
            <a:pPr algn="l" marL="669293" indent="-334646" lvl="1">
              <a:lnSpc>
                <a:spcPts val="3131"/>
              </a:lnSpc>
              <a:buFont typeface="Arial"/>
              <a:buChar char="•"/>
            </a:pPr>
            <a:r>
              <a:rPr lang="en-US" sz="3100" spc="14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Optim</a:t>
            </a:r>
            <a:r>
              <a:rPr lang="en-US" sz="3100" spc="14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ization less stable than ResNet</a:t>
            </a:r>
          </a:p>
          <a:p>
            <a:pPr algn="l" marL="669293" indent="-334646" lvl="1">
              <a:lnSpc>
                <a:spcPts val="3131"/>
              </a:lnSpc>
              <a:buFont typeface="Arial"/>
              <a:buChar char="•"/>
            </a:pPr>
            <a:r>
              <a:rPr lang="en-US" sz="3100" spc="14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Hard</a:t>
            </a:r>
            <a:r>
              <a:rPr lang="en-US" sz="3100" spc="14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er to fine-tune</a:t>
            </a:r>
          </a:p>
          <a:p>
            <a:pPr algn="l">
              <a:lnSpc>
                <a:spcPts val="3131"/>
              </a:lnSpc>
            </a:pPr>
            <a:r>
              <a:rPr lang="en-US" sz="3100" spc="145" b="true">
                <a:solidFill>
                  <a:srgbClr val="36E9FD"/>
                </a:solidFill>
                <a:latin typeface="DM Sans Bold"/>
                <a:ea typeface="DM Sans Bold"/>
                <a:cs typeface="DM Sans Bold"/>
                <a:sym typeface="DM Sans Bold"/>
              </a:rPr>
              <a:t>Why performance is close to ResNet:</a:t>
            </a:r>
          </a:p>
          <a:p>
            <a:pPr algn="l" marL="669293" indent="-334646" lvl="1">
              <a:lnSpc>
                <a:spcPts val="3131"/>
              </a:lnSpc>
              <a:buFont typeface="Arial"/>
              <a:buChar char="•"/>
            </a:pPr>
            <a:r>
              <a:rPr lang="en-US" sz="3100" spc="14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Multi-scale kernels detect patterns at different spectral resolutions</a:t>
            </a:r>
          </a:p>
          <a:p>
            <a:pPr algn="l">
              <a:lnSpc>
                <a:spcPts val="3131"/>
              </a:lnSpc>
            </a:pPr>
            <a:r>
              <a:rPr lang="en-US" sz="3100" spc="145" b="true">
                <a:solidFill>
                  <a:srgbClr val="36E9FD"/>
                </a:solidFill>
                <a:latin typeface="DM Sans Bold"/>
                <a:ea typeface="DM Sans Bold"/>
                <a:cs typeface="DM Sans Bold"/>
                <a:sym typeface="DM Sans Bold"/>
              </a:rPr>
              <a:t>Test Accuracy: ~76.9%</a:t>
            </a:r>
          </a:p>
          <a:p>
            <a:pPr algn="l">
              <a:lnSpc>
                <a:spcPts val="3131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1028700" y="399779"/>
            <a:ext cx="5654326" cy="1299612"/>
            <a:chOff x="0" y="0"/>
            <a:chExt cx="1768157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68157" cy="406400"/>
            </a:xfrm>
            <a:custGeom>
              <a:avLst/>
              <a:gdLst/>
              <a:ahLst/>
              <a:cxnLst/>
              <a:rect r="r" b="b" t="t" l="l"/>
              <a:pathLst>
                <a:path h="406400" w="1768157">
                  <a:moveTo>
                    <a:pt x="1564957" y="0"/>
                  </a:moveTo>
                  <a:cubicBezTo>
                    <a:pt x="1677182" y="0"/>
                    <a:pt x="1768157" y="90976"/>
                    <a:pt x="1768157" y="203200"/>
                  </a:cubicBezTo>
                  <a:cubicBezTo>
                    <a:pt x="1768157" y="315424"/>
                    <a:pt x="1677182" y="406400"/>
                    <a:pt x="156495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76815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3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82187" y="810679"/>
            <a:ext cx="5147353" cy="589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4"/>
              </a:lnSpc>
            </a:pPr>
            <a:r>
              <a:rPr lang="en-US" b="true" sz="4720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INCEPTION-V1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919877" y="2090178"/>
            <a:ext cx="9250003" cy="7625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sz="3100" spc="145" b="true">
                <a:solidFill>
                  <a:srgbClr val="36E9FD"/>
                </a:solidFill>
                <a:latin typeface="DM Sans Bold"/>
                <a:ea typeface="DM Sans Bold"/>
                <a:cs typeface="DM Sans Bold"/>
                <a:sym typeface="DM Sans Bold"/>
              </a:rPr>
              <a:t>Strengths:</a:t>
            </a:r>
          </a:p>
          <a:p>
            <a:pPr algn="l" marL="669293" indent="-334646" lvl="1">
              <a:lnSpc>
                <a:spcPts val="3224"/>
              </a:lnSpc>
              <a:buFont typeface="Arial"/>
              <a:buChar char="•"/>
            </a:pPr>
            <a:r>
              <a:rPr lang="en-US" sz="3100" spc="14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Captures long-range time–frequency dependencies</a:t>
            </a:r>
          </a:p>
          <a:p>
            <a:pPr algn="l" marL="669293" indent="-334646" lvl="1">
              <a:lnSpc>
                <a:spcPts val="3224"/>
              </a:lnSpc>
              <a:buFont typeface="Arial"/>
              <a:buChar char="•"/>
            </a:pPr>
            <a:r>
              <a:rPr lang="en-US" sz="3100" spc="14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</a:t>
            </a:r>
            <a:r>
              <a:rPr lang="en-US" sz="3100" spc="14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earns global spectrogram structure</a:t>
            </a:r>
          </a:p>
          <a:p>
            <a:pPr algn="l" marL="669293" indent="-334646" lvl="1">
              <a:lnSpc>
                <a:spcPts val="3224"/>
              </a:lnSpc>
              <a:buFont typeface="Arial"/>
              <a:buChar char="•"/>
            </a:pPr>
            <a:r>
              <a:rPr lang="en-US" sz="3100" spc="14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</a:t>
            </a:r>
            <a:r>
              <a:rPr lang="en-US" sz="3100" spc="14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enefits from SpecAugment &amp; balanced dataset</a:t>
            </a:r>
          </a:p>
          <a:p>
            <a:pPr algn="l" marL="669293" indent="-334646" lvl="1">
              <a:lnSpc>
                <a:spcPts val="3224"/>
              </a:lnSpc>
              <a:buFont typeface="Arial"/>
              <a:buChar char="•"/>
            </a:pPr>
            <a:r>
              <a:rPr lang="en-US" sz="3100" spc="14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</a:t>
            </a:r>
            <a:r>
              <a:rPr lang="en-US" sz="3100" spc="14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est representation learning</a:t>
            </a:r>
          </a:p>
          <a:p>
            <a:pPr algn="l">
              <a:lnSpc>
                <a:spcPts val="3224"/>
              </a:lnSpc>
            </a:pPr>
            <a:r>
              <a:rPr lang="en-US" sz="3100" spc="145" b="true">
                <a:solidFill>
                  <a:srgbClr val="36E9FD"/>
                </a:solidFill>
                <a:latin typeface="DM Sans Bold"/>
                <a:ea typeface="DM Sans Bold"/>
                <a:cs typeface="DM Sans Bold"/>
                <a:sym typeface="DM Sans Bold"/>
              </a:rPr>
              <a:t>Weaknesses:</a:t>
            </a:r>
          </a:p>
          <a:p>
            <a:pPr algn="l" marL="669293" indent="-334646" lvl="1">
              <a:lnSpc>
                <a:spcPts val="3224"/>
              </a:lnSpc>
              <a:buFont typeface="Arial"/>
              <a:buChar char="•"/>
            </a:pPr>
            <a:r>
              <a:rPr lang="en-US" sz="3100" spc="14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Requires more data</a:t>
            </a:r>
          </a:p>
          <a:p>
            <a:pPr algn="l" marL="669293" indent="-334646" lvl="1">
              <a:lnSpc>
                <a:spcPts val="3224"/>
              </a:lnSpc>
              <a:buFont typeface="Arial"/>
              <a:buChar char="•"/>
            </a:pPr>
            <a:r>
              <a:rPr lang="en-US" sz="3100" spc="14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Sensitive to hyperparameters</a:t>
            </a:r>
          </a:p>
          <a:p>
            <a:pPr algn="l" marL="669293" indent="-334646" lvl="1">
              <a:lnSpc>
                <a:spcPts val="3224"/>
              </a:lnSpc>
              <a:buFont typeface="Arial"/>
              <a:buChar char="•"/>
            </a:pPr>
            <a:r>
              <a:rPr lang="en-US" sz="3100" spc="14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Heavier compute cost</a:t>
            </a:r>
          </a:p>
          <a:p>
            <a:pPr algn="l">
              <a:lnSpc>
                <a:spcPts val="3224"/>
              </a:lnSpc>
            </a:pPr>
            <a:r>
              <a:rPr lang="en-US" sz="3100" spc="145" b="true">
                <a:solidFill>
                  <a:srgbClr val="36E9FD"/>
                </a:solidFill>
                <a:latin typeface="DM Sans Bold"/>
                <a:ea typeface="DM Sans Bold"/>
                <a:cs typeface="DM Sans Bold"/>
                <a:sym typeface="DM Sans Bold"/>
              </a:rPr>
              <a:t>Why it performs best:</a:t>
            </a:r>
          </a:p>
          <a:p>
            <a:pPr algn="l" marL="669293" indent="-334646" lvl="1">
              <a:lnSpc>
                <a:spcPts val="3224"/>
              </a:lnSpc>
              <a:buFont typeface="Arial"/>
              <a:buChar char="•"/>
            </a:pPr>
            <a:r>
              <a:rPr lang="en-US" sz="3100" spc="14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Attention mechanism models harmonic trajectories, modulations, and repeated bird calls</a:t>
            </a:r>
          </a:p>
          <a:p>
            <a:pPr algn="l" marL="669293" indent="-334646" lvl="1">
              <a:lnSpc>
                <a:spcPts val="3224"/>
              </a:lnSpc>
              <a:buFont typeface="Arial"/>
              <a:buChar char="•"/>
            </a:pPr>
            <a:r>
              <a:rPr lang="en-US" sz="3100" spc="14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Works </a:t>
            </a:r>
            <a:r>
              <a:rPr lang="en-US" sz="3100" spc="14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extremely well with mel-spectrograms due to global receptive field</a:t>
            </a:r>
          </a:p>
          <a:p>
            <a:pPr algn="l">
              <a:lnSpc>
                <a:spcPts val="3224"/>
              </a:lnSpc>
            </a:pPr>
            <a:r>
              <a:rPr lang="en-US" sz="3100" spc="145" b="true">
                <a:solidFill>
                  <a:srgbClr val="36E9FD"/>
                </a:solidFill>
                <a:latin typeface="DM Sans Bold"/>
                <a:ea typeface="DM Sans Bold"/>
                <a:cs typeface="DM Sans Bold"/>
                <a:sym typeface="DM Sans Bold"/>
              </a:rPr>
              <a:t>Test Accuracy: ~78.8% (Best)</a:t>
            </a:r>
          </a:p>
          <a:p>
            <a:pPr algn="l">
              <a:lnSpc>
                <a:spcPts val="3224"/>
              </a:lnSpc>
            </a:pPr>
          </a:p>
        </p:txBody>
      </p:sp>
      <p:grpSp>
        <p:nvGrpSpPr>
          <p:cNvPr name="Group 16" id="16"/>
          <p:cNvGrpSpPr/>
          <p:nvPr/>
        </p:nvGrpSpPr>
        <p:grpSpPr>
          <a:xfrm rot="0">
            <a:off x="10555244" y="399779"/>
            <a:ext cx="5654326" cy="1299612"/>
            <a:chOff x="0" y="0"/>
            <a:chExt cx="1768157" cy="406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68157" cy="406400"/>
            </a:xfrm>
            <a:custGeom>
              <a:avLst/>
              <a:gdLst/>
              <a:ahLst/>
              <a:cxnLst/>
              <a:rect r="r" b="b" t="t" l="l"/>
              <a:pathLst>
                <a:path h="406400" w="1768157">
                  <a:moveTo>
                    <a:pt x="1564957" y="0"/>
                  </a:moveTo>
                  <a:cubicBezTo>
                    <a:pt x="1677182" y="0"/>
                    <a:pt x="1768157" y="90976"/>
                    <a:pt x="1768157" y="203200"/>
                  </a:cubicBezTo>
                  <a:cubicBezTo>
                    <a:pt x="1768157" y="315424"/>
                    <a:pt x="1677182" y="406400"/>
                    <a:pt x="156495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76815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3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0971202" y="791071"/>
            <a:ext cx="5147353" cy="589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4"/>
              </a:lnSpc>
            </a:pPr>
            <a:r>
              <a:rPr lang="en-US" b="true" sz="4720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VIT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361B7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63013" y="756160"/>
            <a:ext cx="9470244" cy="110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43"/>
              </a:lnSpc>
            </a:pPr>
            <a:r>
              <a:rPr lang="en-US" sz="8572" b="true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References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3213427"/>
            <a:ext cx="16680628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VGG: https://arxiv.org/pdf/1409.1556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ResNet: https://arxiv.org/abs/1512.03385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V1:https://github.com/NohaAteff/Transfer_Learning/blob/main/Googlenet.ipynb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ViT: @34123699765488 https://arxiv.org/abs/2306.06050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647679">
            <a:off x="5750070" y="2254213"/>
            <a:ext cx="27455017" cy="10021081"/>
          </a:xfrm>
          <a:custGeom>
            <a:avLst/>
            <a:gdLst/>
            <a:ahLst/>
            <a:cxnLst/>
            <a:rect r="r" b="b" t="t" l="l"/>
            <a:pathLst>
              <a:path h="10021081" w="27455017">
                <a:moveTo>
                  <a:pt x="0" y="0"/>
                </a:moveTo>
                <a:lnTo>
                  <a:pt x="27455017" y="0"/>
                </a:lnTo>
                <a:lnTo>
                  <a:pt x="27455017" y="10021081"/>
                </a:lnTo>
                <a:lnTo>
                  <a:pt x="0" y="100210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1161320">
            <a:off x="-5537192" y="-4329620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6989710"/>
                </a:moveTo>
                <a:lnTo>
                  <a:pt x="19149891" y="6989710"/>
                </a:lnTo>
                <a:lnTo>
                  <a:pt x="19149891" y="0"/>
                </a:lnTo>
                <a:lnTo>
                  <a:pt x="0" y="0"/>
                </a:lnTo>
                <a:lnTo>
                  <a:pt x="0" y="698971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347011" y="4106509"/>
            <a:ext cx="9176274" cy="110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43"/>
              </a:lnSpc>
            </a:pPr>
            <a:r>
              <a:rPr lang="en-US" b="true" sz="8572">
                <a:solidFill>
                  <a:srgbClr val="36E9FD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Thank You!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727728" y="5540699"/>
            <a:ext cx="83254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36E9F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DAG7B7dBM6U</dc:identifier>
  <dcterms:modified xsi:type="dcterms:W3CDTF">2011-08-01T06:04:30Z</dcterms:modified>
  <cp:revision>1</cp:revision>
  <dc:title>Deep Learning Presentation</dc:title>
</cp:coreProperties>
</file>